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ileron Bold" panose="020B0604020202020204" charset="0"/>
      <p:regular r:id="rId23"/>
    </p:embeddedFont>
    <p:embeddedFont>
      <p:font typeface="Montserrat" panose="00000500000000000000" pitchFamily="2" charset="0"/>
      <p:regular r:id="rId24"/>
    </p:embeddedFont>
    <p:embeddedFont>
      <p:font typeface="Montserrat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5018838" y="1028700"/>
            <a:ext cx="2240462" cy="2148043"/>
          </a:xfrm>
          <a:custGeom>
            <a:avLst/>
            <a:gdLst/>
            <a:ahLst/>
            <a:cxnLst/>
            <a:rect l="l" t="t" r="r" b="b"/>
            <a:pathLst>
              <a:path w="2240462" h="2148043">
                <a:moveTo>
                  <a:pt x="0" y="0"/>
                </a:moveTo>
                <a:lnTo>
                  <a:pt x="2240462" y="0"/>
                </a:lnTo>
                <a:lnTo>
                  <a:pt x="2240462" y="2148043"/>
                </a:lnTo>
                <a:lnTo>
                  <a:pt x="0" y="2148043"/>
                </a:lnTo>
                <a:lnTo>
                  <a:pt x="0" y="0"/>
                </a:lnTo>
                <a:close/>
              </a:path>
            </a:pathLst>
          </a:custGeom>
          <a:blipFill>
            <a:blip r:embed="rId2"/>
            <a:stretch>
              <a:fillRect/>
            </a:stretch>
          </a:blipFill>
        </p:spPr>
      </p:sp>
      <p:sp>
        <p:nvSpPr>
          <p:cNvPr id="3" name="TextBox 3"/>
          <p:cNvSpPr txBox="1"/>
          <p:nvPr/>
        </p:nvSpPr>
        <p:spPr>
          <a:xfrm>
            <a:off x="1028700" y="2774488"/>
            <a:ext cx="14617458" cy="2116455"/>
          </a:xfrm>
          <a:prstGeom prst="rect">
            <a:avLst/>
          </a:prstGeom>
        </p:spPr>
        <p:txBody>
          <a:bodyPr lIns="0" tIns="0" rIns="0" bIns="0" rtlCol="0" anchor="t">
            <a:spAutoFit/>
          </a:bodyPr>
          <a:lstStyle/>
          <a:p>
            <a:pPr algn="l">
              <a:lnSpc>
                <a:spcPts val="8009"/>
              </a:lnSpc>
            </a:pPr>
            <a:r>
              <a:rPr lang="en-US" sz="9000" b="1" spc="-396">
                <a:solidFill>
                  <a:srgbClr val="E4E2DD"/>
                </a:solidFill>
                <a:latin typeface="Aileron Bold"/>
                <a:ea typeface="Aileron Bold"/>
                <a:cs typeface="Aileron Bold"/>
                <a:sym typeface="Aileron Bold"/>
              </a:rPr>
              <a:t>Truck Booking &amp; Tracking Web Application</a:t>
            </a:r>
          </a:p>
        </p:txBody>
      </p:sp>
      <p:sp>
        <p:nvSpPr>
          <p:cNvPr id="4" name="TextBox 4"/>
          <p:cNvSpPr txBox="1"/>
          <p:nvPr/>
        </p:nvSpPr>
        <p:spPr>
          <a:xfrm>
            <a:off x="1028700" y="6360798"/>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Name of</a:t>
            </a:r>
            <a:r>
              <a:rPr lang="en-US" sz="1800" b="1">
                <a:solidFill>
                  <a:srgbClr val="E4E2DD"/>
                </a:solidFill>
                <a:latin typeface="Montserrat Bold"/>
                <a:ea typeface="Montserrat Bold"/>
                <a:cs typeface="Montserrat Bold"/>
                <a:sym typeface="Montserrat Bold"/>
              </a:rPr>
              <a:t> Subject:</a:t>
            </a:r>
          </a:p>
        </p:txBody>
      </p:sp>
      <p:sp>
        <p:nvSpPr>
          <p:cNvPr id="5" name="TextBox 5"/>
          <p:cNvSpPr txBox="1"/>
          <p:nvPr/>
        </p:nvSpPr>
        <p:spPr>
          <a:xfrm>
            <a:off x="10133389" y="7831356"/>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By:</a:t>
            </a:r>
          </a:p>
        </p:txBody>
      </p:sp>
      <p:sp>
        <p:nvSpPr>
          <p:cNvPr id="6" name="TextBox 6"/>
          <p:cNvSpPr txBox="1"/>
          <p:nvPr/>
        </p:nvSpPr>
        <p:spPr>
          <a:xfrm>
            <a:off x="1028700" y="6640731"/>
            <a:ext cx="6922879" cy="314325"/>
          </a:xfrm>
          <a:prstGeom prst="rect">
            <a:avLst/>
          </a:prstGeom>
        </p:spPr>
        <p:txBody>
          <a:bodyPr lIns="0" tIns="0" rIns="0" bIns="0" rtlCol="0" anchor="t">
            <a:spAutoFit/>
          </a:bodyPr>
          <a:lstStyle/>
          <a:p>
            <a:pPr algn="l">
              <a:lnSpc>
                <a:spcPts val="2520"/>
              </a:lnSpc>
            </a:pPr>
            <a:r>
              <a:rPr lang="en-US" sz="2100" b="1">
                <a:solidFill>
                  <a:srgbClr val="E4E2DD"/>
                </a:solidFill>
                <a:latin typeface="Montserrat Bold"/>
                <a:ea typeface="Montserrat Bold"/>
                <a:cs typeface="Montserrat Bold"/>
                <a:sym typeface="Montserrat Bold"/>
              </a:rPr>
              <a:t>Principal of Geographic Information System</a:t>
            </a:r>
          </a:p>
        </p:txBody>
      </p:sp>
      <p:sp>
        <p:nvSpPr>
          <p:cNvPr id="7" name="TextBox 7"/>
          <p:cNvSpPr txBox="1"/>
          <p:nvPr/>
        </p:nvSpPr>
        <p:spPr>
          <a:xfrm>
            <a:off x="1028700" y="2360150"/>
            <a:ext cx="3328331" cy="314325"/>
          </a:xfrm>
          <a:prstGeom prst="rect">
            <a:avLst/>
          </a:prstGeom>
        </p:spPr>
        <p:txBody>
          <a:bodyPr lIns="0" tIns="0" rIns="0" bIns="0" rtlCol="0" anchor="t">
            <a:spAutoFit/>
          </a:bodyPr>
          <a:lstStyle/>
          <a:p>
            <a:pPr algn="l">
              <a:lnSpc>
                <a:spcPts val="2520"/>
              </a:lnSpc>
            </a:pPr>
            <a:r>
              <a:rPr lang="en-US" sz="2100" b="1">
                <a:solidFill>
                  <a:srgbClr val="E4E2DD"/>
                </a:solidFill>
                <a:latin typeface="Montserrat Bold"/>
                <a:ea typeface="Montserrat Bold"/>
                <a:cs typeface="Montserrat Bold"/>
                <a:sym typeface="Montserrat Bold"/>
              </a:rPr>
              <a:t>GNR- 605</a:t>
            </a:r>
          </a:p>
        </p:txBody>
      </p:sp>
      <p:sp>
        <p:nvSpPr>
          <p:cNvPr id="8" name="TextBox 8"/>
          <p:cNvSpPr txBox="1"/>
          <p:nvPr/>
        </p:nvSpPr>
        <p:spPr>
          <a:xfrm>
            <a:off x="10133389" y="8111289"/>
            <a:ext cx="5512769" cy="942975"/>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Aditya Awasthi-25m0307</a:t>
            </a:r>
          </a:p>
          <a:p>
            <a:pPr algn="l">
              <a:lnSpc>
                <a:spcPts val="2520"/>
              </a:lnSpc>
            </a:pPr>
            <a:r>
              <a:rPr lang="en-US" sz="2100" b="1" spc="-42">
                <a:solidFill>
                  <a:srgbClr val="E4E2DD"/>
                </a:solidFill>
                <a:latin typeface="Montserrat Bold"/>
                <a:ea typeface="Montserrat Bold"/>
                <a:cs typeface="Montserrat Bold"/>
                <a:sym typeface="Montserrat Bold"/>
              </a:rPr>
              <a:t>Yaksh Besaniya-25m0313</a:t>
            </a:r>
          </a:p>
          <a:p>
            <a:pPr algn="l">
              <a:lnSpc>
                <a:spcPts val="2520"/>
              </a:lnSpc>
            </a:pPr>
            <a:r>
              <a:rPr lang="en-US" sz="2100" b="1" spc="-42">
                <a:solidFill>
                  <a:srgbClr val="E4E2DD"/>
                </a:solidFill>
                <a:latin typeface="Montserrat Bold"/>
                <a:ea typeface="Montserrat Bold"/>
                <a:cs typeface="Montserrat Bold"/>
                <a:sym typeface="Montserrat Bold"/>
              </a:rPr>
              <a:t>Bahul Mishra- 25m0317</a:t>
            </a:r>
          </a:p>
        </p:txBody>
      </p:sp>
      <p:sp>
        <p:nvSpPr>
          <p:cNvPr id="9" name="TextBox 9"/>
          <p:cNvSpPr txBox="1"/>
          <p:nvPr/>
        </p:nvSpPr>
        <p:spPr>
          <a:xfrm>
            <a:off x="1028700" y="7831356"/>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To:</a:t>
            </a:r>
          </a:p>
        </p:txBody>
      </p:sp>
      <p:sp>
        <p:nvSpPr>
          <p:cNvPr id="10" name="TextBox 10"/>
          <p:cNvSpPr txBox="1"/>
          <p:nvPr/>
        </p:nvSpPr>
        <p:spPr>
          <a:xfrm>
            <a:off x="1028700" y="8111289"/>
            <a:ext cx="2652419" cy="314325"/>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Prof. Surya Durbha</a:t>
            </a:r>
          </a:p>
        </p:txBody>
      </p:sp>
      <p:sp>
        <p:nvSpPr>
          <p:cNvPr id="11" name="TextBox 11"/>
          <p:cNvSpPr txBox="1"/>
          <p:nvPr/>
        </p:nvSpPr>
        <p:spPr>
          <a:xfrm>
            <a:off x="1028700" y="4900468"/>
            <a:ext cx="8582734" cy="866775"/>
          </a:xfrm>
          <a:prstGeom prst="rect">
            <a:avLst/>
          </a:prstGeom>
        </p:spPr>
        <p:txBody>
          <a:bodyPr lIns="0" tIns="0" rIns="0" bIns="0" rtlCol="0" anchor="t">
            <a:spAutoFit/>
          </a:bodyPr>
          <a:lstStyle/>
          <a:p>
            <a:pPr algn="just">
              <a:lnSpc>
                <a:spcPts val="3479"/>
              </a:lnSpc>
            </a:pPr>
            <a:r>
              <a:rPr lang="en-US" sz="2899" spc="-57">
                <a:solidFill>
                  <a:srgbClr val="E4E2DD"/>
                </a:solidFill>
                <a:latin typeface="Montserrat"/>
                <a:ea typeface="Montserrat"/>
                <a:cs typeface="Montserrat"/>
                <a:sym typeface="Montserrat"/>
              </a:rPr>
              <a:t>GIS enabled truck booking and real time freight Tracking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3610408" y="1952612"/>
            <a:ext cx="11067184" cy="1317821"/>
          </a:xfrm>
          <a:prstGeom prst="rect">
            <a:avLst/>
          </a:prstGeom>
        </p:spPr>
        <p:txBody>
          <a:bodyPr lIns="0" tIns="0" rIns="0" bIns="0" rtlCol="0" anchor="t">
            <a:spAutoFit/>
          </a:bodyPr>
          <a:lstStyle/>
          <a:p>
            <a:pPr algn="l">
              <a:lnSpc>
                <a:spcPts val="9550"/>
              </a:lnSpc>
            </a:pPr>
            <a:r>
              <a:rPr lang="en-US" sz="10730" b="1" spc="-472">
                <a:solidFill>
                  <a:srgbClr val="E4E2DD"/>
                </a:solidFill>
                <a:latin typeface="Aileron Bold"/>
                <a:ea typeface="Aileron Bold"/>
                <a:cs typeface="Aileron Bold"/>
                <a:sym typeface="Aileron Bold"/>
              </a:rPr>
              <a:t>Project Definition.</a:t>
            </a:r>
          </a:p>
        </p:txBody>
      </p:sp>
      <p:grpSp>
        <p:nvGrpSpPr>
          <p:cNvPr id="3" name="Group 3"/>
          <p:cNvGrpSpPr/>
          <p:nvPr/>
        </p:nvGrpSpPr>
        <p:grpSpPr>
          <a:xfrm>
            <a:off x="1501132" y="6049266"/>
            <a:ext cx="14951597" cy="3209034"/>
            <a:chOff x="0" y="0"/>
            <a:chExt cx="3937869" cy="845178"/>
          </a:xfrm>
        </p:grpSpPr>
        <p:sp>
          <p:nvSpPr>
            <p:cNvPr id="4" name="Freeform 4"/>
            <p:cNvSpPr/>
            <p:nvPr/>
          </p:nvSpPr>
          <p:spPr>
            <a:xfrm>
              <a:off x="0" y="0"/>
              <a:ext cx="3937869" cy="845178"/>
            </a:xfrm>
            <a:custGeom>
              <a:avLst/>
              <a:gdLst/>
              <a:ahLst/>
              <a:cxnLst/>
              <a:rect l="l" t="t" r="r" b="b"/>
              <a:pathLst>
                <a:path w="3937869" h="845178">
                  <a:moveTo>
                    <a:pt x="16570" y="0"/>
                  </a:moveTo>
                  <a:lnTo>
                    <a:pt x="3921300" y="0"/>
                  </a:lnTo>
                  <a:cubicBezTo>
                    <a:pt x="3925694" y="0"/>
                    <a:pt x="3929909" y="1746"/>
                    <a:pt x="3933016" y="4853"/>
                  </a:cubicBezTo>
                  <a:cubicBezTo>
                    <a:pt x="3936124" y="7961"/>
                    <a:pt x="3937869" y="12175"/>
                    <a:pt x="3937869" y="16570"/>
                  </a:cubicBezTo>
                  <a:lnTo>
                    <a:pt x="3937869" y="828608"/>
                  </a:lnTo>
                  <a:cubicBezTo>
                    <a:pt x="3937869" y="833003"/>
                    <a:pt x="3936124" y="837217"/>
                    <a:pt x="3933016" y="840325"/>
                  </a:cubicBezTo>
                  <a:cubicBezTo>
                    <a:pt x="3929909" y="843432"/>
                    <a:pt x="3925694" y="845178"/>
                    <a:pt x="3921300" y="845178"/>
                  </a:cubicBezTo>
                  <a:lnTo>
                    <a:pt x="16570" y="845178"/>
                  </a:lnTo>
                  <a:cubicBezTo>
                    <a:pt x="12175" y="845178"/>
                    <a:pt x="7961" y="843432"/>
                    <a:pt x="4853" y="840325"/>
                  </a:cubicBezTo>
                  <a:cubicBezTo>
                    <a:pt x="1746" y="837217"/>
                    <a:pt x="0" y="833003"/>
                    <a:pt x="0" y="828608"/>
                  </a:cubicBezTo>
                  <a:lnTo>
                    <a:pt x="0" y="16570"/>
                  </a:lnTo>
                  <a:cubicBezTo>
                    <a:pt x="0" y="12175"/>
                    <a:pt x="1746" y="7961"/>
                    <a:pt x="4853" y="4853"/>
                  </a:cubicBezTo>
                  <a:cubicBezTo>
                    <a:pt x="7961" y="1746"/>
                    <a:pt x="12175" y="0"/>
                    <a:pt x="16570" y="0"/>
                  </a:cubicBezTo>
                  <a:close/>
                </a:path>
              </a:pathLst>
            </a:custGeom>
            <a:solidFill>
              <a:srgbClr val="000000">
                <a:alpha val="0"/>
              </a:srgbClr>
            </a:solidFill>
            <a:ln w="38100" cap="rnd">
              <a:solidFill>
                <a:srgbClr val="E4E2DD"/>
              </a:solidFill>
              <a:prstDash val="solid"/>
              <a:round/>
            </a:ln>
          </p:spPr>
        </p:sp>
        <p:sp>
          <p:nvSpPr>
            <p:cNvPr id="5" name="TextBox 5"/>
            <p:cNvSpPr txBox="1"/>
            <p:nvPr/>
          </p:nvSpPr>
          <p:spPr>
            <a:xfrm>
              <a:off x="0" y="0"/>
              <a:ext cx="3937869" cy="845178"/>
            </a:xfrm>
            <a:prstGeom prst="rect">
              <a:avLst/>
            </a:prstGeom>
          </p:spPr>
          <p:txBody>
            <a:bodyPr lIns="50800" tIns="50800" rIns="50800" bIns="50800" rtlCol="0" anchor="ctr"/>
            <a:lstStyle/>
            <a:p>
              <a:pPr algn="ctr">
                <a:lnSpc>
                  <a:spcPts val="2520"/>
                </a:lnSpc>
              </a:pPr>
              <a:endParaRPr/>
            </a:p>
          </p:txBody>
        </p:sp>
      </p:grpSp>
      <p:sp>
        <p:nvSpPr>
          <p:cNvPr id="6" name="TextBox 6"/>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7" name="TextBox 7"/>
          <p:cNvSpPr txBox="1"/>
          <p:nvPr/>
        </p:nvSpPr>
        <p:spPr>
          <a:xfrm>
            <a:off x="2856484" y="3556182"/>
            <a:ext cx="12789673" cy="1896237"/>
          </a:xfrm>
          <a:prstGeom prst="rect">
            <a:avLst/>
          </a:prstGeom>
        </p:spPr>
        <p:txBody>
          <a:bodyPr lIns="0" tIns="0" rIns="0" bIns="0" rtlCol="0" anchor="t">
            <a:spAutoFit/>
          </a:bodyPr>
          <a:lstStyle/>
          <a:p>
            <a:pPr algn="ctr">
              <a:lnSpc>
                <a:spcPts val="3024"/>
              </a:lnSpc>
            </a:pPr>
            <a:r>
              <a:rPr lang="en-US" sz="2400" b="1" spc="120">
                <a:solidFill>
                  <a:srgbClr val="E4E2DD"/>
                </a:solidFill>
                <a:latin typeface="Montserrat Bold"/>
                <a:ea typeface="Montserrat Bold"/>
                <a:cs typeface="Montserrat Bold"/>
                <a:sym typeface="Montserrat Bold"/>
              </a:rPr>
              <a:t>Develop an APP for trucks and other heavy vehicles that is similar to UBER. The user should be able to hire a heavy vehicle nearby and track the goods to the destination. Various optimizations have to be done so that the profit is maximized for the vehicle owner as well as minimum cost to the user.</a:t>
            </a:r>
          </a:p>
        </p:txBody>
      </p:sp>
      <p:sp>
        <p:nvSpPr>
          <p:cNvPr id="8" name="TextBox 8"/>
          <p:cNvSpPr txBox="1"/>
          <p:nvPr/>
        </p:nvSpPr>
        <p:spPr>
          <a:xfrm>
            <a:off x="2167464" y="6371843"/>
            <a:ext cx="3693317" cy="446532"/>
          </a:xfrm>
          <a:prstGeom prst="rect">
            <a:avLst/>
          </a:prstGeom>
        </p:spPr>
        <p:txBody>
          <a:bodyPr lIns="0" tIns="0" rIns="0" bIns="0" rtlCol="0" anchor="t">
            <a:spAutoFit/>
          </a:bodyPr>
          <a:lstStyle/>
          <a:p>
            <a:pPr algn="l">
              <a:lnSpc>
                <a:spcPts val="3204"/>
              </a:lnSpc>
            </a:pPr>
            <a:r>
              <a:rPr lang="en-US" sz="3600" b="1" spc="-158">
                <a:solidFill>
                  <a:srgbClr val="E4E2DD"/>
                </a:solidFill>
                <a:latin typeface="Aileron Bold"/>
                <a:ea typeface="Aileron Bold"/>
                <a:cs typeface="Aileron Bold"/>
                <a:sym typeface="Aileron Bold"/>
              </a:rPr>
              <a:t>Project Objective:</a:t>
            </a:r>
          </a:p>
        </p:txBody>
      </p:sp>
      <p:sp>
        <p:nvSpPr>
          <p:cNvPr id="9" name="TextBox 9"/>
          <p:cNvSpPr txBox="1"/>
          <p:nvPr/>
        </p:nvSpPr>
        <p:spPr>
          <a:xfrm>
            <a:off x="2167464" y="6873927"/>
            <a:ext cx="13219343" cy="2524125"/>
          </a:xfrm>
          <a:prstGeom prst="rect">
            <a:avLst/>
          </a:prstGeom>
        </p:spPr>
        <p:txBody>
          <a:bodyPr lIns="0" tIns="0" rIns="0" bIns="0" rtlCol="0" anchor="t">
            <a:spAutoFit/>
          </a:bodyPr>
          <a:lstStyle/>
          <a:p>
            <a:pPr algn="just">
              <a:lnSpc>
                <a:spcPts val="2879"/>
              </a:lnSpc>
            </a:pPr>
            <a:r>
              <a:rPr lang="en-US" sz="2400" spc="-48">
                <a:solidFill>
                  <a:srgbClr val="E4E2DD"/>
                </a:solidFill>
                <a:latin typeface="Montserrat"/>
                <a:ea typeface="Montserrat"/>
                <a:cs typeface="Montserrat"/>
                <a:sym typeface="Montserrat"/>
              </a:rPr>
              <a:t>Build a GIS-based system where:</a:t>
            </a:r>
          </a:p>
          <a:p>
            <a:pPr marL="518160" lvl="1" indent="-259080" algn="just">
              <a:lnSpc>
                <a:spcPts val="2879"/>
              </a:lnSpc>
              <a:buFont typeface="Arial"/>
              <a:buChar char="•"/>
            </a:pPr>
            <a:r>
              <a:rPr lang="en-US" sz="2400" spc="-48">
                <a:solidFill>
                  <a:srgbClr val="E4E2DD"/>
                </a:solidFill>
                <a:latin typeface="Montserrat"/>
                <a:ea typeface="Montserrat"/>
                <a:cs typeface="Montserrat"/>
                <a:sym typeface="Montserrat"/>
              </a:rPr>
              <a:t>Users can book heavy vehicles near their location</a:t>
            </a:r>
          </a:p>
          <a:p>
            <a:pPr marL="518160" lvl="1" indent="-259080" algn="just">
              <a:lnSpc>
                <a:spcPts val="2879"/>
              </a:lnSpc>
              <a:buFont typeface="Arial"/>
              <a:buChar char="•"/>
            </a:pPr>
            <a:r>
              <a:rPr lang="en-US" sz="2400" spc="-48">
                <a:solidFill>
                  <a:srgbClr val="E4E2DD"/>
                </a:solidFill>
                <a:latin typeface="Montserrat"/>
                <a:ea typeface="Montserrat"/>
                <a:cs typeface="Montserrat"/>
                <a:sym typeface="Montserrat"/>
              </a:rPr>
              <a:t>Owners/drivers can accept rides</a:t>
            </a:r>
          </a:p>
          <a:p>
            <a:pPr marL="518160" lvl="1" indent="-259080" algn="just">
              <a:lnSpc>
                <a:spcPts val="2879"/>
              </a:lnSpc>
              <a:buFont typeface="Arial"/>
              <a:buChar char="•"/>
            </a:pPr>
            <a:r>
              <a:rPr lang="en-US" sz="2400" spc="-48">
                <a:solidFill>
                  <a:srgbClr val="E4E2DD"/>
                </a:solidFill>
                <a:latin typeface="Montserrat"/>
                <a:ea typeface="Montserrat"/>
                <a:cs typeface="Montserrat"/>
                <a:sym typeface="Montserrat"/>
              </a:rPr>
              <a:t>Users can track movement of the truck live</a:t>
            </a:r>
          </a:p>
          <a:p>
            <a:pPr marL="518160" lvl="1" indent="-259080" algn="just">
              <a:lnSpc>
                <a:spcPts val="2879"/>
              </a:lnSpc>
              <a:buFont typeface="Arial"/>
              <a:buChar char="•"/>
            </a:pPr>
            <a:r>
              <a:rPr lang="en-US" sz="2400" spc="-48">
                <a:solidFill>
                  <a:srgbClr val="E4E2DD"/>
                </a:solidFill>
                <a:latin typeface="Montserrat"/>
                <a:ea typeface="Montserrat"/>
                <a:cs typeface="Montserrat"/>
                <a:sym typeface="Montserrat"/>
              </a:rPr>
              <a:t>System simulates vehicle movement &amp; updates booking status</a:t>
            </a:r>
          </a:p>
          <a:p>
            <a:pPr marL="518160" lvl="1" indent="-259080" algn="just">
              <a:lnSpc>
                <a:spcPts val="2879"/>
              </a:lnSpc>
              <a:buFont typeface="Arial"/>
              <a:buChar char="•"/>
            </a:pPr>
            <a:r>
              <a:rPr lang="en-US" sz="2400" spc="-48">
                <a:solidFill>
                  <a:srgbClr val="E4E2DD"/>
                </a:solidFill>
                <a:latin typeface="Montserrat"/>
                <a:ea typeface="Montserrat"/>
                <a:cs typeface="Montserrat"/>
                <a:sym typeface="Montserrat"/>
              </a:rPr>
              <a:t>Optimize so that user cost is minimized &amp; truck owner profit maximized</a:t>
            </a:r>
          </a:p>
          <a:p>
            <a:pPr algn="just">
              <a:lnSpc>
                <a:spcPts val="2879"/>
              </a:lnSpc>
            </a:pPr>
            <a:endParaRPr lang="en-US" sz="2400" spc="-48">
              <a:solidFill>
                <a:srgbClr val="E4E2DD"/>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9619060" y="2115577"/>
            <a:ext cx="6660816" cy="5605405"/>
          </a:xfrm>
          <a:custGeom>
            <a:avLst/>
            <a:gdLst/>
            <a:ahLst/>
            <a:cxnLst/>
            <a:rect l="l" t="t" r="r" b="b"/>
            <a:pathLst>
              <a:path w="6660816" h="5605405">
                <a:moveTo>
                  <a:pt x="0" y="0"/>
                </a:moveTo>
                <a:lnTo>
                  <a:pt x="6660815" y="0"/>
                </a:lnTo>
                <a:lnTo>
                  <a:pt x="6660815" y="5605405"/>
                </a:lnTo>
                <a:lnTo>
                  <a:pt x="0" y="5605405"/>
                </a:lnTo>
                <a:lnTo>
                  <a:pt x="0" y="0"/>
                </a:lnTo>
                <a:close/>
              </a:path>
            </a:pathLst>
          </a:custGeom>
          <a:blipFill>
            <a:blip r:embed="rId2"/>
            <a:stretch>
              <a:fillRect/>
            </a:stretch>
          </a:blipFill>
        </p:spPr>
      </p:sp>
      <p:sp>
        <p:nvSpPr>
          <p:cNvPr id="3" name="TextBox 3"/>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4" name="TextBox 4"/>
          <p:cNvSpPr txBox="1"/>
          <p:nvPr/>
        </p:nvSpPr>
        <p:spPr>
          <a:xfrm>
            <a:off x="800507" y="2277502"/>
            <a:ext cx="5153833" cy="687197"/>
          </a:xfrm>
          <a:prstGeom prst="rect">
            <a:avLst/>
          </a:prstGeom>
        </p:spPr>
        <p:txBody>
          <a:bodyPr lIns="0" tIns="0" rIns="0" bIns="0" rtlCol="0" anchor="t">
            <a:spAutoFit/>
          </a:bodyPr>
          <a:lstStyle/>
          <a:p>
            <a:pPr algn="l">
              <a:lnSpc>
                <a:spcPts val="4984"/>
              </a:lnSpc>
            </a:pPr>
            <a:r>
              <a:rPr lang="en-US" sz="5600" b="1" spc="-246">
                <a:solidFill>
                  <a:srgbClr val="E4E2DD"/>
                </a:solidFill>
                <a:latin typeface="Aileron Bold"/>
                <a:ea typeface="Aileron Bold"/>
                <a:cs typeface="Aileron Bold"/>
                <a:sym typeface="Aileron Bold"/>
              </a:rPr>
              <a:t>Contents</a:t>
            </a:r>
          </a:p>
        </p:txBody>
      </p:sp>
      <p:sp>
        <p:nvSpPr>
          <p:cNvPr id="5" name="TextBox 5"/>
          <p:cNvSpPr txBox="1"/>
          <p:nvPr/>
        </p:nvSpPr>
        <p:spPr>
          <a:xfrm>
            <a:off x="1028700" y="3104098"/>
            <a:ext cx="6755947" cy="3762375"/>
          </a:xfrm>
          <a:prstGeom prst="rect">
            <a:avLst/>
          </a:prstGeom>
        </p:spPr>
        <p:txBody>
          <a:bodyPr lIns="0" tIns="0" rIns="0" bIns="0" rtlCol="0" anchor="t">
            <a:spAutoFit/>
          </a:bodyPr>
          <a:lstStyle/>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Introduction &amp; Problem Statement</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Tech Stack</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Methodology &amp; Implementation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System Architecture</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Workflow / Algorithm</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UI Screens &amp; Trip Simulation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Results</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Conclusion</a:t>
            </a:r>
          </a:p>
          <a:p>
            <a:pPr algn="just">
              <a:lnSpc>
                <a:spcPts val="3359"/>
              </a:lnSpc>
            </a:pPr>
            <a:endParaRPr lang="en-US" sz="2799" spc="-55">
              <a:solidFill>
                <a:srgbClr val="E4E2DD"/>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028700" y="1343025"/>
            <a:ext cx="7176570" cy="1317821"/>
          </a:xfrm>
          <a:prstGeom prst="rect">
            <a:avLst/>
          </a:prstGeom>
        </p:spPr>
        <p:txBody>
          <a:bodyPr lIns="0" tIns="0" rIns="0" bIns="0" rtlCol="0" anchor="t">
            <a:spAutoFit/>
          </a:bodyPr>
          <a:lstStyle/>
          <a:p>
            <a:pPr algn="l">
              <a:lnSpc>
                <a:spcPts val="9550"/>
              </a:lnSpc>
            </a:pPr>
            <a:r>
              <a:rPr lang="en-US" sz="10730" b="1" spc="-472">
                <a:solidFill>
                  <a:srgbClr val="E4E2DD"/>
                </a:solidFill>
                <a:latin typeface="Aileron Bold"/>
                <a:ea typeface="Aileron Bold"/>
                <a:cs typeface="Aileron Bold"/>
                <a:sym typeface="Aileron Bold"/>
              </a:rPr>
              <a:t>Tech Stack</a:t>
            </a:r>
          </a:p>
        </p:txBody>
      </p:sp>
      <p:grpSp>
        <p:nvGrpSpPr>
          <p:cNvPr id="4" name="Group 4"/>
          <p:cNvGrpSpPr/>
          <p:nvPr/>
        </p:nvGrpSpPr>
        <p:grpSpPr>
          <a:xfrm>
            <a:off x="1354323" y="2917754"/>
            <a:ext cx="7789677" cy="1956667"/>
            <a:chOff x="0" y="0"/>
            <a:chExt cx="2051602" cy="515336"/>
          </a:xfrm>
        </p:grpSpPr>
        <p:sp>
          <p:nvSpPr>
            <p:cNvPr id="5" name="Freeform 5"/>
            <p:cNvSpPr/>
            <p:nvPr/>
          </p:nvSpPr>
          <p:spPr>
            <a:xfrm>
              <a:off x="0" y="0"/>
              <a:ext cx="2051602" cy="515336"/>
            </a:xfrm>
            <a:custGeom>
              <a:avLst/>
              <a:gdLst/>
              <a:ahLst/>
              <a:cxnLst/>
              <a:rect l="l" t="t" r="r" b="b"/>
              <a:pathLst>
                <a:path w="2051602" h="515336">
                  <a:moveTo>
                    <a:pt x="31804" y="0"/>
                  </a:moveTo>
                  <a:lnTo>
                    <a:pt x="2019798" y="0"/>
                  </a:lnTo>
                  <a:cubicBezTo>
                    <a:pt x="2037363" y="0"/>
                    <a:pt x="2051602" y="14239"/>
                    <a:pt x="2051602" y="31804"/>
                  </a:cubicBezTo>
                  <a:lnTo>
                    <a:pt x="2051602" y="483532"/>
                  </a:lnTo>
                  <a:cubicBezTo>
                    <a:pt x="2051602" y="491967"/>
                    <a:pt x="2048251" y="500057"/>
                    <a:pt x="2042287" y="506021"/>
                  </a:cubicBezTo>
                  <a:cubicBezTo>
                    <a:pt x="2036323" y="511986"/>
                    <a:pt x="2028233" y="515336"/>
                    <a:pt x="2019798" y="515336"/>
                  </a:cubicBezTo>
                  <a:lnTo>
                    <a:pt x="31804" y="515336"/>
                  </a:lnTo>
                  <a:cubicBezTo>
                    <a:pt x="14239" y="515336"/>
                    <a:pt x="0" y="501097"/>
                    <a:pt x="0" y="483532"/>
                  </a:cubicBezTo>
                  <a:lnTo>
                    <a:pt x="0" y="31804"/>
                  </a:lnTo>
                  <a:cubicBezTo>
                    <a:pt x="0" y="14239"/>
                    <a:pt x="14239" y="0"/>
                    <a:pt x="31804" y="0"/>
                  </a:cubicBezTo>
                  <a:close/>
                </a:path>
              </a:pathLst>
            </a:custGeom>
            <a:solidFill>
              <a:srgbClr val="E4E2DD"/>
            </a:solidFill>
          </p:spPr>
        </p:sp>
        <p:sp>
          <p:nvSpPr>
            <p:cNvPr id="6" name="TextBox 6"/>
            <p:cNvSpPr txBox="1"/>
            <p:nvPr/>
          </p:nvSpPr>
          <p:spPr>
            <a:xfrm>
              <a:off x="0" y="0"/>
              <a:ext cx="2051602" cy="515336"/>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1354323" y="5143500"/>
            <a:ext cx="7789677" cy="1956667"/>
            <a:chOff x="0" y="0"/>
            <a:chExt cx="2051602" cy="515336"/>
          </a:xfrm>
        </p:grpSpPr>
        <p:sp>
          <p:nvSpPr>
            <p:cNvPr id="8" name="Freeform 8"/>
            <p:cNvSpPr/>
            <p:nvPr/>
          </p:nvSpPr>
          <p:spPr>
            <a:xfrm>
              <a:off x="0" y="0"/>
              <a:ext cx="2051602" cy="515336"/>
            </a:xfrm>
            <a:custGeom>
              <a:avLst/>
              <a:gdLst/>
              <a:ahLst/>
              <a:cxnLst/>
              <a:rect l="l" t="t" r="r" b="b"/>
              <a:pathLst>
                <a:path w="2051602" h="515336">
                  <a:moveTo>
                    <a:pt x="31804" y="0"/>
                  </a:moveTo>
                  <a:lnTo>
                    <a:pt x="2019798" y="0"/>
                  </a:lnTo>
                  <a:cubicBezTo>
                    <a:pt x="2037363" y="0"/>
                    <a:pt x="2051602" y="14239"/>
                    <a:pt x="2051602" y="31804"/>
                  </a:cubicBezTo>
                  <a:lnTo>
                    <a:pt x="2051602" y="483532"/>
                  </a:lnTo>
                  <a:cubicBezTo>
                    <a:pt x="2051602" y="491967"/>
                    <a:pt x="2048251" y="500057"/>
                    <a:pt x="2042287" y="506021"/>
                  </a:cubicBezTo>
                  <a:cubicBezTo>
                    <a:pt x="2036323" y="511986"/>
                    <a:pt x="2028233" y="515336"/>
                    <a:pt x="2019798" y="515336"/>
                  </a:cubicBezTo>
                  <a:lnTo>
                    <a:pt x="31804" y="515336"/>
                  </a:lnTo>
                  <a:cubicBezTo>
                    <a:pt x="14239" y="515336"/>
                    <a:pt x="0" y="501097"/>
                    <a:pt x="0" y="483532"/>
                  </a:cubicBezTo>
                  <a:lnTo>
                    <a:pt x="0" y="31804"/>
                  </a:lnTo>
                  <a:cubicBezTo>
                    <a:pt x="0" y="14239"/>
                    <a:pt x="14239" y="0"/>
                    <a:pt x="31804" y="0"/>
                  </a:cubicBezTo>
                  <a:close/>
                </a:path>
              </a:pathLst>
            </a:custGeom>
            <a:solidFill>
              <a:srgbClr val="292929"/>
            </a:solidFill>
            <a:ln w="38100" cap="rnd">
              <a:solidFill>
                <a:srgbClr val="E4E2DD"/>
              </a:solidFill>
              <a:prstDash val="solid"/>
              <a:round/>
            </a:ln>
          </p:spPr>
        </p:sp>
        <p:sp>
          <p:nvSpPr>
            <p:cNvPr id="9" name="TextBox 9"/>
            <p:cNvSpPr txBox="1"/>
            <p:nvPr/>
          </p:nvSpPr>
          <p:spPr>
            <a:xfrm>
              <a:off x="0" y="0"/>
              <a:ext cx="2051602" cy="515336"/>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1774670" y="3297383"/>
            <a:ext cx="4659761" cy="383159"/>
          </a:xfrm>
          <a:prstGeom prst="rect">
            <a:avLst/>
          </a:prstGeom>
        </p:spPr>
        <p:txBody>
          <a:bodyPr lIns="0" tIns="0" rIns="0" bIns="0" rtlCol="0" anchor="t">
            <a:spAutoFit/>
          </a:bodyPr>
          <a:lstStyle/>
          <a:p>
            <a:pPr algn="l">
              <a:lnSpc>
                <a:spcPts val="2848"/>
              </a:lnSpc>
            </a:pPr>
            <a:r>
              <a:rPr lang="en-US" sz="3200" b="1" spc="-140" dirty="0">
                <a:solidFill>
                  <a:srgbClr val="292929"/>
                </a:solidFill>
                <a:latin typeface="Aileron Bold"/>
                <a:ea typeface="Aileron Bold"/>
                <a:cs typeface="Aileron Bold"/>
                <a:sym typeface="Aileron Bold"/>
              </a:rPr>
              <a:t>Frontend</a:t>
            </a:r>
          </a:p>
        </p:txBody>
      </p:sp>
      <p:sp>
        <p:nvSpPr>
          <p:cNvPr id="11" name="TextBox 11"/>
          <p:cNvSpPr txBox="1"/>
          <p:nvPr/>
        </p:nvSpPr>
        <p:spPr>
          <a:xfrm>
            <a:off x="1774670" y="3798096"/>
            <a:ext cx="6948983" cy="1098762"/>
          </a:xfrm>
          <a:prstGeom prst="rect">
            <a:avLst/>
          </a:prstGeom>
        </p:spPr>
        <p:txBody>
          <a:bodyPr lIns="0" tIns="0" rIns="0" bIns="0" rtlCol="0" anchor="t">
            <a:spAutoFit/>
          </a:bodyPr>
          <a:lstStyle/>
          <a:p>
            <a:pPr marL="518160" lvl="1" indent="-259080" algn="just">
              <a:lnSpc>
                <a:spcPts val="2879"/>
              </a:lnSpc>
              <a:buFont typeface="Arial"/>
              <a:buChar char="•"/>
            </a:pPr>
            <a:r>
              <a:rPr lang="en-US" sz="2100" spc="-48" dirty="0">
                <a:solidFill>
                  <a:srgbClr val="292929"/>
                </a:solidFill>
                <a:latin typeface="Montserrat"/>
                <a:ea typeface="Montserrat"/>
                <a:cs typeface="Montserrat"/>
                <a:sym typeface="Montserrat"/>
              </a:rPr>
              <a:t>HTML, CSS, Bootstrap, JavaScript</a:t>
            </a:r>
          </a:p>
          <a:p>
            <a:pPr marL="518160" lvl="1" indent="-259080" algn="just">
              <a:lnSpc>
                <a:spcPts val="2879"/>
              </a:lnSpc>
              <a:buFont typeface="Arial"/>
              <a:buChar char="•"/>
            </a:pPr>
            <a:r>
              <a:rPr lang="en-US" sz="2100" spc="-48" dirty="0">
                <a:solidFill>
                  <a:srgbClr val="292929"/>
                </a:solidFill>
                <a:latin typeface="Montserrat"/>
                <a:ea typeface="Montserrat"/>
                <a:cs typeface="Montserrat"/>
                <a:sym typeface="Montserrat"/>
              </a:rPr>
              <a:t>Leaflet</a:t>
            </a:r>
          </a:p>
          <a:p>
            <a:pPr algn="just">
              <a:lnSpc>
                <a:spcPts val="2879"/>
              </a:lnSpc>
            </a:pPr>
            <a:endParaRPr lang="en-US" sz="2400" spc="-48" dirty="0">
              <a:solidFill>
                <a:srgbClr val="292929"/>
              </a:solidFill>
              <a:latin typeface="Montserrat"/>
              <a:ea typeface="Montserrat"/>
              <a:cs typeface="Montserrat"/>
              <a:sym typeface="Montserrat"/>
            </a:endParaRPr>
          </a:p>
        </p:txBody>
      </p:sp>
      <p:sp>
        <p:nvSpPr>
          <p:cNvPr id="12" name="TextBox 12"/>
          <p:cNvSpPr txBox="1"/>
          <p:nvPr/>
        </p:nvSpPr>
        <p:spPr>
          <a:xfrm>
            <a:off x="1774670" y="5523129"/>
            <a:ext cx="4659761"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Backend</a:t>
            </a:r>
          </a:p>
        </p:txBody>
      </p:sp>
      <p:sp>
        <p:nvSpPr>
          <p:cNvPr id="13" name="TextBox 13"/>
          <p:cNvSpPr txBox="1"/>
          <p:nvPr/>
        </p:nvSpPr>
        <p:spPr>
          <a:xfrm>
            <a:off x="1774670" y="6015688"/>
            <a:ext cx="6948983" cy="961802"/>
          </a:xfrm>
          <a:prstGeom prst="rect">
            <a:avLst/>
          </a:prstGeom>
        </p:spPr>
        <p:txBody>
          <a:bodyPr lIns="0" tIns="0" rIns="0" bIns="0" rtlCol="0" anchor="t">
            <a:spAutoFit/>
          </a:bodyPr>
          <a:lstStyle/>
          <a:p>
            <a:pPr marL="453390" lvl="1" indent="-226695" algn="just">
              <a:lnSpc>
                <a:spcPts val="2520"/>
              </a:lnSpc>
              <a:buFont typeface="Arial"/>
              <a:buChar char="•"/>
            </a:pPr>
            <a:r>
              <a:rPr lang="en-US" sz="2100" spc="-42" dirty="0">
                <a:solidFill>
                  <a:srgbClr val="E4E2DD"/>
                </a:solidFill>
                <a:latin typeface="Montserrat"/>
                <a:ea typeface="Montserrat"/>
                <a:cs typeface="Montserrat"/>
                <a:sym typeface="Montserrat"/>
              </a:rPr>
              <a:t>Flask (Python)</a:t>
            </a:r>
          </a:p>
          <a:p>
            <a:pPr marL="453390" lvl="1" indent="-226695" algn="just">
              <a:lnSpc>
                <a:spcPts val="2520"/>
              </a:lnSpc>
              <a:buFont typeface="Arial"/>
              <a:buChar char="•"/>
            </a:pPr>
            <a:r>
              <a:rPr lang="en-US" sz="2100" spc="-42" dirty="0">
                <a:solidFill>
                  <a:srgbClr val="E4E2DD"/>
                </a:solidFill>
                <a:latin typeface="Montserrat"/>
                <a:ea typeface="Montserrat"/>
                <a:cs typeface="Montserrat"/>
                <a:sym typeface="Montserrat"/>
              </a:rPr>
              <a:t>REST APIs for booking, driver actions, simulation</a:t>
            </a:r>
          </a:p>
          <a:p>
            <a:pPr algn="just">
              <a:lnSpc>
                <a:spcPts val="2520"/>
              </a:lnSpc>
            </a:pPr>
            <a:endParaRPr lang="en-US" sz="2100" spc="-42" dirty="0">
              <a:solidFill>
                <a:srgbClr val="E4E2DD"/>
              </a:solidFill>
              <a:latin typeface="Montserrat"/>
              <a:ea typeface="Montserrat"/>
              <a:cs typeface="Montserrat"/>
              <a:sym typeface="Montserrat"/>
            </a:endParaRPr>
          </a:p>
        </p:txBody>
      </p:sp>
      <p:grpSp>
        <p:nvGrpSpPr>
          <p:cNvPr id="14" name="Group 14"/>
          <p:cNvGrpSpPr/>
          <p:nvPr/>
        </p:nvGrpSpPr>
        <p:grpSpPr>
          <a:xfrm>
            <a:off x="1354323" y="7366867"/>
            <a:ext cx="7789677" cy="1956667"/>
            <a:chOff x="0" y="0"/>
            <a:chExt cx="2051602" cy="515336"/>
          </a:xfrm>
        </p:grpSpPr>
        <p:sp>
          <p:nvSpPr>
            <p:cNvPr id="15" name="Freeform 15"/>
            <p:cNvSpPr/>
            <p:nvPr/>
          </p:nvSpPr>
          <p:spPr>
            <a:xfrm>
              <a:off x="0" y="0"/>
              <a:ext cx="2051602" cy="515336"/>
            </a:xfrm>
            <a:custGeom>
              <a:avLst/>
              <a:gdLst/>
              <a:ahLst/>
              <a:cxnLst/>
              <a:rect l="l" t="t" r="r" b="b"/>
              <a:pathLst>
                <a:path w="2051602" h="515336">
                  <a:moveTo>
                    <a:pt x="31804" y="0"/>
                  </a:moveTo>
                  <a:lnTo>
                    <a:pt x="2019798" y="0"/>
                  </a:lnTo>
                  <a:cubicBezTo>
                    <a:pt x="2037363" y="0"/>
                    <a:pt x="2051602" y="14239"/>
                    <a:pt x="2051602" y="31804"/>
                  </a:cubicBezTo>
                  <a:lnTo>
                    <a:pt x="2051602" y="483532"/>
                  </a:lnTo>
                  <a:cubicBezTo>
                    <a:pt x="2051602" y="491967"/>
                    <a:pt x="2048251" y="500057"/>
                    <a:pt x="2042287" y="506021"/>
                  </a:cubicBezTo>
                  <a:cubicBezTo>
                    <a:pt x="2036323" y="511986"/>
                    <a:pt x="2028233" y="515336"/>
                    <a:pt x="2019798" y="515336"/>
                  </a:cubicBezTo>
                  <a:lnTo>
                    <a:pt x="31804" y="515336"/>
                  </a:lnTo>
                  <a:cubicBezTo>
                    <a:pt x="14239" y="515336"/>
                    <a:pt x="0" y="501097"/>
                    <a:pt x="0" y="483532"/>
                  </a:cubicBezTo>
                  <a:lnTo>
                    <a:pt x="0" y="31804"/>
                  </a:lnTo>
                  <a:cubicBezTo>
                    <a:pt x="0" y="14239"/>
                    <a:pt x="14239" y="0"/>
                    <a:pt x="31804" y="0"/>
                  </a:cubicBezTo>
                  <a:close/>
                </a:path>
              </a:pathLst>
            </a:custGeom>
            <a:solidFill>
              <a:srgbClr val="E4E2DD"/>
            </a:solidFill>
          </p:spPr>
        </p:sp>
        <p:sp>
          <p:nvSpPr>
            <p:cNvPr id="16" name="TextBox 16"/>
            <p:cNvSpPr txBox="1"/>
            <p:nvPr/>
          </p:nvSpPr>
          <p:spPr>
            <a:xfrm>
              <a:off x="0" y="0"/>
              <a:ext cx="2051602" cy="515336"/>
            </a:xfrm>
            <a:prstGeom prst="rect">
              <a:avLst/>
            </a:prstGeom>
          </p:spPr>
          <p:txBody>
            <a:bodyPr lIns="50800" tIns="50800" rIns="50800" bIns="50800" rtlCol="0" anchor="ctr"/>
            <a:lstStyle/>
            <a:p>
              <a:pPr algn="ctr">
                <a:lnSpc>
                  <a:spcPts val="2520"/>
                </a:lnSpc>
              </a:pPr>
              <a:endParaRPr/>
            </a:p>
          </p:txBody>
        </p:sp>
      </p:grpSp>
      <p:sp>
        <p:nvSpPr>
          <p:cNvPr id="17" name="TextBox 17"/>
          <p:cNvSpPr txBox="1"/>
          <p:nvPr/>
        </p:nvSpPr>
        <p:spPr>
          <a:xfrm>
            <a:off x="1901627" y="7850536"/>
            <a:ext cx="4659761" cy="383159"/>
          </a:xfrm>
          <a:prstGeom prst="rect">
            <a:avLst/>
          </a:prstGeom>
        </p:spPr>
        <p:txBody>
          <a:bodyPr lIns="0" tIns="0" rIns="0" bIns="0" rtlCol="0" anchor="t">
            <a:spAutoFit/>
          </a:bodyPr>
          <a:lstStyle/>
          <a:p>
            <a:pPr algn="l">
              <a:lnSpc>
                <a:spcPts val="2848"/>
              </a:lnSpc>
            </a:pPr>
            <a:r>
              <a:rPr lang="en-US" sz="3200" b="1" spc="-140" dirty="0">
                <a:solidFill>
                  <a:srgbClr val="292929"/>
                </a:solidFill>
                <a:latin typeface="Aileron Bold"/>
                <a:ea typeface="Aileron Bold"/>
                <a:cs typeface="Aileron Bold"/>
                <a:sym typeface="Aileron Bold"/>
              </a:rPr>
              <a:t>Simulation Engine</a:t>
            </a:r>
          </a:p>
        </p:txBody>
      </p:sp>
      <p:sp>
        <p:nvSpPr>
          <p:cNvPr id="18" name="TextBox 18"/>
          <p:cNvSpPr txBox="1"/>
          <p:nvPr/>
        </p:nvSpPr>
        <p:spPr>
          <a:xfrm>
            <a:off x="1901627" y="8343095"/>
            <a:ext cx="6108289" cy="942975"/>
          </a:xfrm>
          <a:prstGeom prst="rect">
            <a:avLst/>
          </a:prstGeom>
        </p:spPr>
        <p:txBody>
          <a:bodyPr lIns="0" tIns="0" rIns="0" bIns="0" rtlCol="0" anchor="t">
            <a:spAutoFit/>
          </a:bodyPr>
          <a:lstStyle/>
          <a:p>
            <a:pPr marL="453390" lvl="1" indent="-226695" algn="just">
              <a:lnSpc>
                <a:spcPts val="2520"/>
              </a:lnSpc>
              <a:buFont typeface="Arial"/>
              <a:buChar char="•"/>
            </a:pPr>
            <a:r>
              <a:rPr lang="en-US" sz="2100" spc="-42" dirty="0">
                <a:solidFill>
                  <a:srgbClr val="292929"/>
                </a:solidFill>
                <a:latin typeface="Montserrat"/>
                <a:ea typeface="Montserrat"/>
                <a:cs typeface="Montserrat"/>
                <a:sym typeface="Montserrat"/>
              </a:rPr>
              <a:t>Python-based simulator script</a:t>
            </a:r>
          </a:p>
          <a:p>
            <a:pPr marL="453390" lvl="1" indent="-226695" algn="just">
              <a:lnSpc>
                <a:spcPts val="2520"/>
              </a:lnSpc>
              <a:buFont typeface="Arial"/>
              <a:buChar char="•"/>
            </a:pPr>
            <a:r>
              <a:rPr lang="en-US" sz="2100" spc="-42" dirty="0">
                <a:solidFill>
                  <a:srgbClr val="292929"/>
                </a:solidFill>
                <a:latin typeface="Montserrat"/>
                <a:ea typeface="Montserrat"/>
                <a:cs typeface="Montserrat"/>
                <a:sym typeface="Montserrat"/>
              </a:rPr>
              <a:t>Coordinate update every 0.8 seconds</a:t>
            </a:r>
          </a:p>
          <a:p>
            <a:pPr algn="just">
              <a:lnSpc>
                <a:spcPts val="2520"/>
              </a:lnSpc>
            </a:pPr>
            <a:endParaRPr lang="en-US" sz="2100" spc="-42" dirty="0">
              <a:solidFill>
                <a:srgbClr val="292929"/>
              </a:solidFill>
              <a:latin typeface="Montserrat"/>
              <a:ea typeface="Montserrat"/>
              <a:cs typeface="Montserrat"/>
              <a:sym typeface="Montserrat"/>
            </a:endParaRPr>
          </a:p>
        </p:txBody>
      </p:sp>
      <p:grpSp>
        <p:nvGrpSpPr>
          <p:cNvPr id="19" name="Group 19"/>
          <p:cNvGrpSpPr/>
          <p:nvPr/>
        </p:nvGrpSpPr>
        <p:grpSpPr>
          <a:xfrm>
            <a:off x="9469623" y="2917754"/>
            <a:ext cx="7789677" cy="1956667"/>
            <a:chOff x="0" y="0"/>
            <a:chExt cx="2051602" cy="515336"/>
          </a:xfrm>
        </p:grpSpPr>
        <p:sp>
          <p:nvSpPr>
            <p:cNvPr id="20" name="Freeform 20"/>
            <p:cNvSpPr/>
            <p:nvPr/>
          </p:nvSpPr>
          <p:spPr>
            <a:xfrm>
              <a:off x="0" y="0"/>
              <a:ext cx="2051602" cy="515336"/>
            </a:xfrm>
            <a:custGeom>
              <a:avLst/>
              <a:gdLst/>
              <a:ahLst/>
              <a:cxnLst/>
              <a:rect l="l" t="t" r="r" b="b"/>
              <a:pathLst>
                <a:path w="2051602" h="515336">
                  <a:moveTo>
                    <a:pt x="31804" y="0"/>
                  </a:moveTo>
                  <a:lnTo>
                    <a:pt x="2019798" y="0"/>
                  </a:lnTo>
                  <a:cubicBezTo>
                    <a:pt x="2037363" y="0"/>
                    <a:pt x="2051602" y="14239"/>
                    <a:pt x="2051602" y="31804"/>
                  </a:cubicBezTo>
                  <a:lnTo>
                    <a:pt x="2051602" y="483532"/>
                  </a:lnTo>
                  <a:cubicBezTo>
                    <a:pt x="2051602" y="491967"/>
                    <a:pt x="2048251" y="500057"/>
                    <a:pt x="2042287" y="506021"/>
                  </a:cubicBezTo>
                  <a:cubicBezTo>
                    <a:pt x="2036323" y="511986"/>
                    <a:pt x="2028233" y="515336"/>
                    <a:pt x="2019798" y="515336"/>
                  </a:cubicBezTo>
                  <a:lnTo>
                    <a:pt x="31804" y="515336"/>
                  </a:lnTo>
                  <a:cubicBezTo>
                    <a:pt x="14239" y="515336"/>
                    <a:pt x="0" y="501097"/>
                    <a:pt x="0" y="483532"/>
                  </a:cubicBezTo>
                  <a:lnTo>
                    <a:pt x="0" y="31804"/>
                  </a:lnTo>
                  <a:cubicBezTo>
                    <a:pt x="0" y="14239"/>
                    <a:pt x="14239" y="0"/>
                    <a:pt x="31804" y="0"/>
                  </a:cubicBezTo>
                  <a:close/>
                </a:path>
              </a:pathLst>
            </a:custGeom>
            <a:solidFill>
              <a:srgbClr val="292929"/>
            </a:solidFill>
            <a:ln w="38100" cap="rnd">
              <a:solidFill>
                <a:srgbClr val="E4E2DD"/>
              </a:solidFill>
              <a:prstDash val="solid"/>
              <a:round/>
            </a:ln>
          </p:spPr>
        </p:sp>
        <p:sp>
          <p:nvSpPr>
            <p:cNvPr id="21" name="TextBox 21"/>
            <p:cNvSpPr txBox="1"/>
            <p:nvPr/>
          </p:nvSpPr>
          <p:spPr>
            <a:xfrm>
              <a:off x="0" y="0"/>
              <a:ext cx="2051602" cy="515336"/>
            </a:xfrm>
            <a:prstGeom prst="rect">
              <a:avLst/>
            </a:prstGeom>
          </p:spPr>
          <p:txBody>
            <a:bodyPr lIns="50800" tIns="50800" rIns="50800" bIns="50800" rtlCol="0" anchor="ctr"/>
            <a:lstStyle/>
            <a:p>
              <a:pPr algn="ctr">
                <a:lnSpc>
                  <a:spcPts val="2520"/>
                </a:lnSpc>
              </a:pPr>
              <a:endParaRPr/>
            </a:p>
          </p:txBody>
        </p:sp>
      </p:grpSp>
      <p:sp>
        <p:nvSpPr>
          <p:cNvPr id="22" name="TextBox 22"/>
          <p:cNvSpPr txBox="1"/>
          <p:nvPr/>
        </p:nvSpPr>
        <p:spPr>
          <a:xfrm>
            <a:off x="9889970" y="3297383"/>
            <a:ext cx="4659761"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Database</a:t>
            </a:r>
          </a:p>
        </p:txBody>
      </p:sp>
      <p:sp>
        <p:nvSpPr>
          <p:cNvPr id="23" name="TextBox 23"/>
          <p:cNvSpPr txBox="1"/>
          <p:nvPr/>
        </p:nvSpPr>
        <p:spPr>
          <a:xfrm>
            <a:off x="9889970" y="3789942"/>
            <a:ext cx="6948983" cy="961802"/>
          </a:xfrm>
          <a:prstGeom prst="rect">
            <a:avLst/>
          </a:prstGeom>
        </p:spPr>
        <p:txBody>
          <a:bodyPr lIns="0" tIns="0" rIns="0" bIns="0" rtlCol="0" anchor="t">
            <a:spAutoFit/>
          </a:bodyPr>
          <a:lstStyle/>
          <a:p>
            <a:pPr marL="453390" lvl="1" indent="-226695" algn="just">
              <a:lnSpc>
                <a:spcPts val="2520"/>
              </a:lnSpc>
              <a:buFont typeface="Arial"/>
              <a:buChar char="•"/>
            </a:pPr>
            <a:r>
              <a:rPr lang="en-US" sz="2100" spc="-42" dirty="0">
                <a:solidFill>
                  <a:srgbClr val="E4E2DD"/>
                </a:solidFill>
                <a:latin typeface="Montserrat"/>
                <a:ea typeface="Montserrat"/>
                <a:cs typeface="Montserrat"/>
                <a:sym typeface="Montserrat"/>
              </a:rPr>
              <a:t>‘</a:t>
            </a:r>
            <a:r>
              <a:rPr lang="en-US" sz="2100" spc="-42" dirty="0" err="1">
                <a:solidFill>
                  <a:srgbClr val="E4E2DD"/>
                </a:solidFill>
                <a:latin typeface="Montserrat"/>
                <a:ea typeface="Montserrat"/>
                <a:cs typeface="Montserrat"/>
                <a:sym typeface="Montserrat"/>
              </a:rPr>
              <a:t>data.json</a:t>
            </a:r>
            <a:r>
              <a:rPr lang="en-US" sz="2100" spc="-42" dirty="0">
                <a:solidFill>
                  <a:srgbClr val="E4E2DD"/>
                </a:solidFill>
                <a:latin typeface="Montserrat"/>
                <a:ea typeface="Montserrat"/>
                <a:cs typeface="Montserrat"/>
                <a:sym typeface="Montserrat"/>
              </a:rPr>
              <a:t>’ file storing</a:t>
            </a:r>
          </a:p>
          <a:p>
            <a:pPr marL="453390" lvl="1" indent="-226695" algn="just">
              <a:lnSpc>
                <a:spcPts val="2520"/>
              </a:lnSpc>
              <a:buFont typeface="Arial"/>
              <a:buChar char="•"/>
            </a:pPr>
            <a:r>
              <a:rPr lang="en-US" sz="2100" spc="-42" dirty="0">
                <a:solidFill>
                  <a:srgbClr val="E4E2DD"/>
                </a:solidFill>
                <a:latin typeface="Montserrat"/>
                <a:ea typeface="Montserrat"/>
                <a:cs typeface="Montserrat"/>
                <a:sym typeface="Montserrat"/>
              </a:rPr>
              <a:t>Vehicles, Locations, Bookings</a:t>
            </a:r>
          </a:p>
          <a:p>
            <a:pPr algn="just">
              <a:lnSpc>
                <a:spcPts val="2520"/>
              </a:lnSpc>
            </a:pPr>
            <a:endParaRPr lang="en-US" sz="2100" spc="-42" dirty="0">
              <a:solidFill>
                <a:srgbClr val="E4E2DD"/>
              </a:solidFill>
              <a:latin typeface="Montserrat"/>
              <a:ea typeface="Montserrat"/>
              <a:cs typeface="Montserrat"/>
              <a:sym typeface="Montserrat"/>
            </a:endParaRPr>
          </a:p>
        </p:txBody>
      </p:sp>
      <p:grpSp>
        <p:nvGrpSpPr>
          <p:cNvPr id="24" name="Group 24"/>
          <p:cNvGrpSpPr/>
          <p:nvPr/>
        </p:nvGrpSpPr>
        <p:grpSpPr>
          <a:xfrm>
            <a:off x="9469623" y="5143500"/>
            <a:ext cx="7789677" cy="2223367"/>
            <a:chOff x="0" y="0"/>
            <a:chExt cx="2051602" cy="585578"/>
          </a:xfrm>
        </p:grpSpPr>
        <p:sp>
          <p:nvSpPr>
            <p:cNvPr id="25" name="Freeform 25"/>
            <p:cNvSpPr/>
            <p:nvPr/>
          </p:nvSpPr>
          <p:spPr>
            <a:xfrm>
              <a:off x="0" y="0"/>
              <a:ext cx="2051602" cy="585578"/>
            </a:xfrm>
            <a:custGeom>
              <a:avLst/>
              <a:gdLst/>
              <a:ahLst/>
              <a:cxnLst/>
              <a:rect l="l" t="t" r="r" b="b"/>
              <a:pathLst>
                <a:path w="2051602" h="585578">
                  <a:moveTo>
                    <a:pt x="31804" y="0"/>
                  </a:moveTo>
                  <a:lnTo>
                    <a:pt x="2019798" y="0"/>
                  </a:lnTo>
                  <a:cubicBezTo>
                    <a:pt x="2037363" y="0"/>
                    <a:pt x="2051602" y="14239"/>
                    <a:pt x="2051602" y="31804"/>
                  </a:cubicBezTo>
                  <a:lnTo>
                    <a:pt x="2051602" y="553774"/>
                  </a:lnTo>
                  <a:cubicBezTo>
                    <a:pt x="2051602" y="571339"/>
                    <a:pt x="2037363" y="585578"/>
                    <a:pt x="2019798" y="585578"/>
                  </a:cubicBezTo>
                  <a:lnTo>
                    <a:pt x="31804" y="585578"/>
                  </a:lnTo>
                  <a:cubicBezTo>
                    <a:pt x="23369" y="585578"/>
                    <a:pt x="15279" y="582227"/>
                    <a:pt x="9315" y="576263"/>
                  </a:cubicBezTo>
                  <a:cubicBezTo>
                    <a:pt x="3351" y="570299"/>
                    <a:pt x="0" y="562209"/>
                    <a:pt x="0" y="553774"/>
                  </a:cubicBezTo>
                  <a:lnTo>
                    <a:pt x="0" y="31804"/>
                  </a:lnTo>
                  <a:cubicBezTo>
                    <a:pt x="0" y="14239"/>
                    <a:pt x="14239" y="0"/>
                    <a:pt x="31804" y="0"/>
                  </a:cubicBezTo>
                  <a:close/>
                </a:path>
              </a:pathLst>
            </a:custGeom>
            <a:solidFill>
              <a:srgbClr val="E4E2DD"/>
            </a:solidFill>
          </p:spPr>
        </p:sp>
        <p:sp>
          <p:nvSpPr>
            <p:cNvPr id="26" name="TextBox 26"/>
            <p:cNvSpPr txBox="1"/>
            <p:nvPr/>
          </p:nvSpPr>
          <p:spPr>
            <a:xfrm>
              <a:off x="0" y="0"/>
              <a:ext cx="2051602" cy="585578"/>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9889970" y="5494554"/>
            <a:ext cx="4659761" cy="383159"/>
          </a:xfrm>
          <a:prstGeom prst="rect">
            <a:avLst/>
          </a:prstGeom>
        </p:spPr>
        <p:txBody>
          <a:bodyPr lIns="0" tIns="0" rIns="0" bIns="0" rtlCol="0" anchor="t">
            <a:spAutoFit/>
          </a:bodyPr>
          <a:lstStyle/>
          <a:p>
            <a:pPr algn="l">
              <a:lnSpc>
                <a:spcPts val="2848"/>
              </a:lnSpc>
            </a:pPr>
            <a:r>
              <a:rPr lang="en-US" sz="3200" b="1" spc="-140" dirty="0">
                <a:solidFill>
                  <a:srgbClr val="292929"/>
                </a:solidFill>
                <a:latin typeface="Aileron Bold"/>
                <a:ea typeface="Aileron Bold"/>
                <a:cs typeface="Aileron Bold"/>
                <a:sym typeface="Aileron Bold"/>
              </a:rPr>
              <a:t>Tools</a:t>
            </a:r>
          </a:p>
        </p:txBody>
      </p:sp>
      <p:sp>
        <p:nvSpPr>
          <p:cNvPr id="28" name="TextBox 28"/>
          <p:cNvSpPr txBox="1"/>
          <p:nvPr/>
        </p:nvSpPr>
        <p:spPr>
          <a:xfrm>
            <a:off x="9889970" y="5995267"/>
            <a:ext cx="6948983" cy="1470659"/>
          </a:xfrm>
          <a:prstGeom prst="rect">
            <a:avLst/>
          </a:prstGeom>
        </p:spPr>
        <p:txBody>
          <a:bodyPr lIns="0" tIns="0" rIns="0" bIns="0" rtlCol="0" anchor="t">
            <a:spAutoFit/>
          </a:bodyPr>
          <a:lstStyle/>
          <a:p>
            <a:pPr marL="518160" lvl="1" indent="-259080" algn="just">
              <a:lnSpc>
                <a:spcPts val="2879"/>
              </a:lnSpc>
              <a:buFont typeface="Arial"/>
              <a:buChar char="•"/>
            </a:pPr>
            <a:r>
              <a:rPr lang="en-US" sz="2100" spc="-48" dirty="0">
                <a:solidFill>
                  <a:srgbClr val="292929"/>
                </a:solidFill>
                <a:latin typeface="Montserrat"/>
                <a:ea typeface="Montserrat"/>
                <a:cs typeface="Montserrat"/>
                <a:sym typeface="Montserrat"/>
              </a:rPr>
              <a:t>GitHub (Code Repo)</a:t>
            </a:r>
          </a:p>
          <a:p>
            <a:pPr marL="518160" lvl="1" indent="-259080" algn="just">
              <a:lnSpc>
                <a:spcPts val="2879"/>
              </a:lnSpc>
              <a:buFont typeface="Arial"/>
              <a:buChar char="•"/>
            </a:pPr>
            <a:r>
              <a:rPr lang="en-US" sz="2100" spc="-48" dirty="0">
                <a:solidFill>
                  <a:srgbClr val="292929"/>
                </a:solidFill>
                <a:latin typeface="Montserrat"/>
                <a:ea typeface="Montserrat"/>
                <a:cs typeface="Montserrat"/>
                <a:sym typeface="Montserrat"/>
              </a:rPr>
              <a:t>VS Code </a:t>
            </a:r>
          </a:p>
          <a:p>
            <a:pPr marL="518160" lvl="1" indent="-259080" algn="just">
              <a:lnSpc>
                <a:spcPts val="2879"/>
              </a:lnSpc>
              <a:buFont typeface="Arial"/>
              <a:buChar char="•"/>
            </a:pPr>
            <a:r>
              <a:rPr lang="en-US" sz="2100" spc="-48" dirty="0">
                <a:solidFill>
                  <a:srgbClr val="292929"/>
                </a:solidFill>
                <a:latin typeface="Montserrat"/>
                <a:ea typeface="Montserrat"/>
                <a:cs typeface="Montserrat"/>
                <a:sym typeface="Montserrat"/>
              </a:rPr>
              <a:t>Browser &amp; Localhost (Testing Environment)</a:t>
            </a:r>
          </a:p>
          <a:p>
            <a:pPr algn="just">
              <a:lnSpc>
                <a:spcPts val="2879"/>
              </a:lnSpc>
            </a:pPr>
            <a:endParaRPr lang="en-US" sz="2100" spc="-48" dirty="0">
              <a:solidFill>
                <a:srgbClr val="292929"/>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028700" y="1500187"/>
            <a:ext cx="11377648" cy="2527496"/>
          </a:xfrm>
          <a:prstGeom prst="rect">
            <a:avLst/>
          </a:prstGeom>
        </p:spPr>
        <p:txBody>
          <a:bodyPr lIns="0" tIns="0" rIns="0" bIns="0" rtlCol="0" anchor="t">
            <a:spAutoFit/>
          </a:bodyPr>
          <a:lstStyle/>
          <a:p>
            <a:pPr algn="l">
              <a:lnSpc>
                <a:spcPts val="9550"/>
              </a:lnSpc>
            </a:pPr>
            <a:r>
              <a:rPr lang="en-US" sz="10730" b="1" spc="-472">
                <a:solidFill>
                  <a:srgbClr val="E4E2DD"/>
                </a:solidFill>
                <a:latin typeface="Aileron Bold"/>
                <a:ea typeface="Aileron Bold"/>
                <a:cs typeface="Aileron Bold"/>
                <a:sym typeface="Aileron Bold"/>
              </a:rPr>
              <a:t>Methodology &amp; Implementation</a:t>
            </a:r>
          </a:p>
        </p:txBody>
      </p:sp>
      <p:grpSp>
        <p:nvGrpSpPr>
          <p:cNvPr id="4" name="Group 4"/>
          <p:cNvGrpSpPr/>
          <p:nvPr/>
        </p:nvGrpSpPr>
        <p:grpSpPr>
          <a:xfrm>
            <a:off x="1252832" y="4258601"/>
            <a:ext cx="3550781" cy="4490212"/>
            <a:chOff x="0" y="0"/>
            <a:chExt cx="935185" cy="1182607"/>
          </a:xfrm>
        </p:grpSpPr>
        <p:sp>
          <p:nvSpPr>
            <p:cNvPr id="5" name="Freeform 5"/>
            <p:cNvSpPr/>
            <p:nvPr/>
          </p:nvSpPr>
          <p:spPr>
            <a:xfrm>
              <a:off x="0" y="0"/>
              <a:ext cx="935185" cy="1182607"/>
            </a:xfrm>
            <a:custGeom>
              <a:avLst/>
              <a:gdLst/>
              <a:ahLst/>
              <a:cxnLst/>
              <a:rect l="l" t="t" r="r" b="b"/>
              <a:pathLst>
                <a:path w="935185" h="1182607">
                  <a:moveTo>
                    <a:pt x="32705" y="0"/>
                  </a:moveTo>
                  <a:lnTo>
                    <a:pt x="902480" y="0"/>
                  </a:lnTo>
                  <a:cubicBezTo>
                    <a:pt x="920542" y="0"/>
                    <a:pt x="935185" y="14643"/>
                    <a:pt x="935185" y="32705"/>
                  </a:cubicBezTo>
                  <a:lnTo>
                    <a:pt x="935185" y="1149902"/>
                  </a:lnTo>
                  <a:cubicBezTo>
                    <a:pt x="935185" y="1167965"/>
                    <a:pt x="920542" y="1182607"/>
                    <a:pt x="902480" y="1182607"/>
                  </a:cubicBezTo>
                  <a:lnTo>
                    <a:pt x="32705" y="1182607"/>
                  </a:lnTo>
                  <a:cubicBezTo>
                    <a:pt x="14643" y="1182607"/>
                    <a:pt x="0" y="1167965"/>
                    <a:pt x="0" y="1149902"/>
                  </a:cubicBezTo>
                  <a:lnTo>
                    <a:pt x="0" y="32705"/>
                  </a:lnTo>
                  <a:cubicBezTo>
                    <a:pt x="0" y="14643"/>
                    <a:pt x="14643" y="0"/>
                    <a:pt x="32705" y="0"/>
                  </a:cubicBezTo>
                  <a:close/>
                </a:path>
              </a:pathLst>
            </a:custGeom>
            <a:solidFill>
              <a:srgbClr val="000000">
                <a:alpha val="0"/>
              </a:srgbClr>
            </a:solidFill>
            <a:ln w="38100" cap="sq">
              <a:solidFill>
                <a:srgbClr val="E4E2DD"/>
              </a:solidFill>
              <a:prstDash val="solid"/>
              <a:miter/>
            </a:ln>
          </p:spPr>
        </p:sp>
        <p:sp>
          <p:nvSpPr>
            <p:cNvPr id="6" name="TextBox 6"/>
            <p:cNvSpPr txBox="1"/>
            <p:nvPr/>
          </p:nvSpPr>
          <p:spPr>
            <a:xfrm>
              <a:off x="0" y="0"/>
              <a:ext cx="935185" cy="1182607"/>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5276467" y="4223646"/>
            <a:ext cx="3556181" cy="4490212"/>
            <a:chOff x="0" y="0"/>
            <a:chExt cx="936607" cy="1182607"/>
          </a:xfrm>
        </p:grpSpPr>
        <p:sp>
          <p:nvSpPr>
            <p:cNvPr id="8" name="Freeform 8"/>
            <p:cNvSpPr/>
            <p:nvPr/>
          </p:nvSpPr>
          <p:spPr>
            <a:xfrm>
              <a:off x="0" y="0"/>
              <a:ext cx="936607" cy="1182607"/>
            </a:xfrm>
            <a:custGeom>
              <a:avLst/>
              <a:gdLst/>
              <a:ahLst/>
              <a:cxnLst/>
              <a:rect l="l" t="t" r="r" b="b"/>
              <a:pathLst>
                <a:path w="936607" h="1182607">
                  <a:moveTo>
                    <a:pt x="32655" y="0"/>
                  </a:moveTo>
                  <a:lnTo>
                    <a:pt x="903952" y="0"/>
                  </a:lnTo>
                  <a:cubicBezTo>
                    <a:pt x="921987" y="0"/>
                    <a:pt x="936607" y="14620"/>
                    <a:pt x="936607" y="32655"/>
                  </a:cubicBezTo>
                  <a:lnTo>
                    <a:pt x="936607" y="1149952"/>
                  </a:lnTo>
                  <a:cubicBezTo>
                    <a:pt x="936607" y="1167987"/>
                    <a:pt x="921987" y="1182607"/>
                    <a:pt x="903952" y="1182607"/>
                  </a:cubicBezTo>
                  <a:lnTo>
                    <a:pt x="32655" y="1182607"/>
                  </a:lnTo>
                  <a:cubicBezTo>
                    <a:pt x="23995" y="1182607"/>
                    <a:pt x="15689" y="1179167"/>
                    <a:pt x="9565" y="1173043"/>
                  </a:cubicBezTo>
                  <a:cubicBezTo>
                    <a:pt x="3440" y="1166919"/>
                    <a:pt x="0" y="1158613"/>
                    <a:pt x="0" y="1149952"/>
                  </a:cubicBezTo>
                  <a:lnTo>
                    <a:pt x="0" y="32655"/>
                  </a:lnTo>
                  <a:cubicBezTo>
                    <a:pt x="0" y="14620"/>
                    <a:pt x="14620" y="0"/>
                    <a:pt x="32655" y="0"/>
                  </a:cubicBezTo>
                  <a:close/>
                </a:path>
              </a:pathLst>
            </a:custGeom>
            <a:solidFill>
              <a:srgbClr val="E4E2DD"/>
            </a:solidFill>
          </p:spPr>
        </p:sp>
        <p:sp>
          <p:nvSpPr>
            <p:cNvPr id="9" name="TextBox 9"/>
            <p:cNvSpPr txBox="1"/>
            <p:nvPr/>
          </p:nvSpPr>
          <p:spPr>
            <a:xfrm>
              <a:off x="0" y="0"/>
              <a:ext cx="936607" cy="1182607"/>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1451521" y="4609355"/>
            <a:ext cx="2866317"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User Booking</a:t>
            </a:r>
          </a:p>
        </p:txBody>
      </p:sp>
      <p:sp>
        <p:nvSpPr>
          <p:cNvPr id="11" name="TextBox 11"/>
          <p:cNvSpPr txBox="1"/>
          <p:nvPr/>
        </p:nvSpPr>
        <p:spPr>
          <a:xfrm>
            <a:off x="1513413" y="5368614"/>
            <a:ext cx="2937775" cy="2828925"/>
          </a:xfrm>
          <a:prstGeom prst="rect">
            <a:avLst/>
          </a:prstGeom>
        </p:spPr>
        <p:txBody>
          <a:bodyPr lIns="0" tIns="0" rIns="0" bIns="0" rtlCol="0" anchor="t">
            <a:spAutoFit/>
          </a:bodyPr>
          <a:lstStyle/>
          <a:p>
            <a:pPr marL="453390" lvl="1" indent="-226695" algn="l">
              <a:lnSpc>
                <a:spcPts val="2520"/>
              </a:lnSpc>
              <a:buFont typeface="Arial"/>
              <a:buChar char="•"/>
            </a:pPr>
            <a:r>
              <a:rPr lang="en-US" sz="2100" spc="-42">
                <a:solidFill>
                  <a:srgbClr val="E4E2DD"/>
                </a:solidFill>
                <a:latin typeface="Montserrat"/>
                <a:ea typeface="Montserrat"/>
                <a:cs typeface="Montserrat"/>
                <a:sym typeface="Montserrat"/>
              </a:rPr>
              <a:t>User selects pickup + drop on map</a:t>
            </a:r>
          </a:p>
          <a:p>
            <a:pPr marL="453390" lvl="1" indent="-226695" algn="l">
              <a:lnSpc>
                <a:spcPts val="2520"/>
              </a:lnSpc>
              <a:buFont typeface="Arial"/>
              <a:buChar char="•"/>
            </a:pPr>
            <a:r>
              <a:rPr lang="en-US" sz="2100" spc="-42">
                <a:solidFill>
                  <a:srgbClr val="E4E2DD"/>
                </a:solidFill>
                <a:latin typeface="Montserrat"/>
                <a:ea typeface="Montserrat"/>
                <a:cs typeface="Montserrat"/>
                <a:sym typeface="Montserrat"/>
              </a:rPr>
              <a:t>System fetches nearest available truck</a:t>
            </a:r>
          </a:p>
          <a:p>
            <a:pPr marL="453390" lvl="1" indent="-226695" algn="l">
              <a:lnSpc>
                <a:spcPts val="2520"/>
              </a:lnSpc>
              <a:buFont typeface="Arial"/>
              <a:buChar char="•"/>
            </a:pPr>
            <a:r>
              <a:rPr lang="en-US" sz="2100" spc="-42">
                <a:solidFill>
                  <a:srgbClr val="E4E2DD"/>
                </a:solidFill>
                <a:latin typeface="Montserrat"/>
                <a:ea typeface="Montserrat"/>
                <a:cs typeface="Montserrat"/>
                <a:sym typeface="Montserrat"/>
              </a:rPr>
              <a:t>New booking is created: PENDING</a:t>
            </a:r>
          </a:p>
          <a:p>
            <a:pPr algn="l">
              <a:lnSpc>
                <a:spcPts val="2520"/>
              </a:lnSpc>
            </a:pPr>
            <a:endParaRPr lang="en-US" sz="2100" spc="-42">
              <a:solidFill>
                <a:srgbClr val="E4E2DD"/>
              </a:solidFill>
              <a:latin typeface="Montserrat"/>
              <a:ea typeface="Montserrat"/>
              <a:cs typeface="Montserrat"/>
              <a:sym typeface="Montserrat"/>
            </a:endParaRPr>
          </a:p>
        </p:txBody>
      </p:sp>
      <p:sp>
        <p:nvSpPr>
          <p:cNvPr id="12" name="TextBox 12"/>
          <p:cNvSpPr txBox="1"/>
          <p:nvPr/>
        </p:nvSpPr>
        <p:spPr>
          <a:xfrm>
            <a:off x="5477631" y="4609355"/>
            <a:ext cx="3426547" cy="383159"/>
          </a:xfrm>
          <a:prstGeom prst="rect">
            <a:avLst/>
          </a:prstGeom>
        </p:spPr>
        <p:txBody>
          <a:bodyPr lIns="0" tIns="0" rIns="0" bIns="0" rtlCol="0" anchor="t">
            <a:spAutoFit/>
          </a:bodyPr>
          <a:lstStyle/>
          <a:p>
            <a:pPr algn="l">
              <a:lnSpc>
                <a:spcPts val="2848"/>
              </a:lnSpc>
            </a:pPr>
            <a:r>
              <a:rPr lang="en-US" sz="3200" b="1" spc="-140">
                <a:solidFill>
                  <a:srgbClr val="292929"/>
                </a:solidFill>
                <a:latin typeface="Aileron Bold"/>
                <a:ea typeface="Aileron Bold"/>
                <a:cs typeface="Aileron Bold"/>
                <a:sym typeface="Aileron Bold"/>
              </a:rPr>
              <a:t>Driver Interaction</a:t>
            </a:r>
          </a:p>
        </p:txBody>
      </p:sp>
      <p:sp>
        <p:nvSpPr>
          <p:cNvPr id="13" name="TextBox 13"/>
          <p:cNvSpPr txBox="1"/>
          <p:nvPr/>
        </p:nvSpPr>
        <p:spPr>
          <a:xfrm>
            <a:off x="5633564" y="5368614"/>
            <a:ext cx="3270614" cy="2200275"/>
          </a:xfrm>
          <a:prstGeom prst="rect">
            <a:avLst/>
          </a:prstGeom>
        </p:spPr>
        <p:txBody>
          <a:bodyPr lIns="0" tIns="0" rIns="0" bIns="0" rtlCol="0" anchor="t">
            <a:spAutoFit/>
          </a:bodyPr>
          <a:lstStyle/>
          <a:p>
            <a:pPr marL="453390" lvl="1" indent="-226695" algn="l">
              <a:lnSpc>
                <a:spcPts val="2520"/>
              </a:lnSpc>
              <a:buFont typeface="Arial"/>
              <a:buChar char="•"/>
            </a:pPr>
            <a:r>
              <a:rPr lang="en-US" sz="2100" spc="-42">
                <a:solidFill>
                  <a:srgbClr val="292929"/>
                </a:solidFill>
                <a:latin typeface="Montserrat"/>
                <a:ea typeface="Montserrat"/>
                <a:cs typeface="Montserrat"/>
                <a:sym typeface="Montserrat"/>
              </a:rPr>
              <a:t>Driver panel lists active bookings</a:t>
            </a:r>
          </a:p>
          <a:p>
            <a:pPr marL="453390" lvl="1" indent="-226695" algn="l">
              <a:lnSpc>
                <a:spcPts val="2520"/>
              </a:lnSpc>
              <a:buFont typeface="Arial"/>
              <a:buChar char="•"/>
            </a:pPr>
            <a:r>
              <a:rPr lang="en-US" sz="2100" spc="-42">
                <a:solidFill>
                  <a:srgbClr val="292929"/>
                </a:solidFill>
                <a:latin typeface="Montserrat"/>
                <a:ea typeface="Montserrat"/>
                <a:cs typeface="Montserrat"/>
                <a:sym typeface="Montserrat"/>
              </a:rPr>
              <a:t>Driver accepts a booking</a:t>
            </a:r>
          </a:p>
          <a:p>
            <a:pPr marL="453390" lvl="1" indent="-226695" algn="l">
              <a:lnSpc>
                <a:spcPts val="2520"/>
              </a:lnSpc>
              <a:buFont typeface="Arial"/>
              <a:buChar char="•"/>
            </a:pPr>
            <a:r>
              <a:rPr lang="en-US" sz="2100" spc="-42">
                <a:solidFill>
                  <a:srgbClr val="292929"/>
                </a:solidFill>
                <a:latin typeface="Montserrat"/>
                <a:ea typeface="Montserrat"/>
                <a:cs typeface="Montserrat"/>
                <a:sym typeface="Montserrat"/>
              </a:rPr>
              <a:t>Booking status → ACCEPTED</a:t>
            </a:r>
          </a:p>
          <a:p>
            <a:pPr algn="l">
              <a:lnSpc>
                <a:spcPts val="2520"/>
              </a:lnSpc>
            </a:pPr>
            <a:endParaRPr lang="en-US" sz="2100" spc="-42">
              <a:solidFill>
                <a:srgbClr val="292929"/>
              </a:solidFill>
              <a:latin typeface="Montserrat"/>
              <a:ea typeface="Montserrat"/>
              <a:cs typeface="Montserrat"/>
              <a:sym typeface="Montserrat"/>
            </a:endParaRPr>
          </a:p>
        </p:txBody>
      </p:sp>
      <p:grpSp>
        <p:nvGrpSpPr>
          <p:cNvPr id="14" name="Group 14"/>
          <p:cNvGrpSpPr/>
          <p:nvPr/>
        </p:nvGrpSpPr>
        <p:grpSpPr>
          <a:xfrm>
            <a:off x="9380427" y="4241123"/>
            <a:ext cx="3550781" cy="4490212"/>
            <a:chOff x="0" y="0"/>
            <a:chExt cx="935185" cy="1182607"/>
          </a:xfrm>
        </p:grpSpPr>
        <p:sp>
          <p:nvSpPr>
            <p:cNvPr id="15" name="Freeform 15"/>
            <p:cNvSpPr/>
            <p:nvPr/>
          </p:nvSpPr>
          <p:spPr>
            <a:xfrm>
              <a:off x="0" y="0"/>
              <a:ext cx="935185" cy="1182607"/>
            </a:xfrm>
            <a:custGeom>
              <a:avLst/>
              <a:gdLst/>
              <a:ahLst/>
              <a:cxnLst/>
              <a:rect l="l" t="t" r="r" b="b"/>
              <a:pathLst>
                <a:path w="935185" h="1182607">
                  <a:moveTo>
                    <a:pt x="32705" y="0"/>
                  </a:moveTo>
                  <a:lnTo>
                    <a:pt x="902480" y="0"/>
                  </a:lnTo>
                  <a:cubicBezTo>
                    <a:pt x="920542" y="0"/>
                    <a:pt x="935185" y="14643"/>
                    <a:pt x="935185" y="32705"/>
                  </a:cubicBezTo>
                  <a:lnTo>
                    <a:pt x="935185" y="1149902"/>
                  </a:lnTo>
                  <a:cubicBezTo>
                    <a:pt x="935185" y="1167965"/>
                    <a:pt x="920542" y="1182607"/>
                    <a:pt x="902480" y="1182607"/>
                  </a:cubicBezTo>
                  <a:lnTo>
                    <a:pt x="32705" y="1182607"/>
                  </a:lnTo>
                  <a:cubicBezTo>
                    <a:pt x="14643" y="1182607"/>
                    <a:pt x="0" y="1167965"/>
                    <a:pt x="0" y="1149902"/>
                  </a:cubicBezTo>
                  <a:lnTo>
                    <a:pt x="0" y="32705"/>
                  </a:lnTo>
                  <a:cubicBezTo>
                    <a:pt x="0" y="14643"/>
                    <a:pt x="14643" y="0"/>
                    <a:pt x="32705" y="0"/>
                  </a:cubicBezTo>
                  <a:close/>
                </a:path>
              </a:pathLst>
            </a:custGeom>
            <a:solidFill>
              <a:srgbClr val="000000">
                <a:alpha val="0"/>
              </a:srgbClr>
            </a:solidFill>
            <a:ln w="38100" cap="sq">
              <a:solidFill>
                <a:srgbClr val="E4E2DD"/>
              </a:solidFill>
              <a:prstDash val="solid"/>
              <a:miter/>
            </a:ln>
          </p:spPr>
        </p:sp>
        <p:sp>
          <p:nvSpPr>
            <p:cNvPr id="16" name="TextBox 16"/>
            <p:cNvSpPr txBox="1"/>
            <p:nvPr/>
          </p:nvSpPr>
          <p:spPr>
            <a:xfrm>
              <a:off x="0" y="0"/>
              <a:ext cx="935185" cy="1182607"/>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13407458" y="4223646"/>
            <a:ext cx="3556181" cy="4490212"/>
            <a:chOff x="0" y="0"/>
            <a:chExt cx="936607" cy="1182607"/>
          </a:xfrm>
        </p:grpSpPr>
        <p:sp>
          <p:nvSpPr>
            <p:cNvPr id="18" name="Freeform 18"/>
            <p:cNvSpPr/>
            <p:nvPr/>
          </p:nvSpPr>
          <p:spPr>
            <a:xfrm>
              <a:off x="0" y="0"/>
              <a:ext cx="936607" cy="1182607"/>
            </a:xfrm>
            <a:custGeom>
              <a:avLst/>
              <a:gdLst/>
              <a:ahLst/>
              <a:cxnLst/>
              <a:rect l="l" t="t" r="r" b="b"/>
              <a:pathLst>
                <a:path w="936607" h="1182607">
                  <a:moveTo>
                    <a:pt x="32655" y="0"/>
                  </a:moveTo>
                  <a:lnTo>
                    <a:pt x="903952" y="0"/>
                  </a:lnTo>
                  <a:cubicBezTo>
                    <a:pt x="921987" y="0"/>
                    <a:pt x="936607" y="14620"/>
                    <a:pt x="936607" y="32655"/>
                  </a:cubicBezTo>
                  <a:lnTo>
                    <a:pt x="936607" y="1149952"/>
                  </a:lnTo>
                  <a:cubicBezTo>
                    <a:pt x="936607" y="1167987"/>
                    <a:pt x="921987" y="1182607"/>
                    <a:pt x="903952" y="1182607"/>
                  </a:cubicBezTo>
                  <a:lnTo>
                    <a:pt x="32655" y="1182607"/>
                  </a:lnTo>
                  <a:cubicBezTo>
                    <a:pt x="23995" y="1182607"/>
                    <a:pt x="15689" y="1179167"/>
                    <a:pt x="9565" y="1173043"/>
                  </a:cubicBezTo>
                  <a:cubicBezTo>
                    <a:pt x="3440" y="1166919"/>
                    <a:pt x="0" y="1158613"/>
                    <a:pt x="0" y="1149952"/>
                  </a:cubicBezTo>
                  <a:lnTo>
                    <a:pt x="0" y="32655"/>
                  </a:lnTo>
                  <a:cubicBezTo>
                    <a:pt x="0" y="14620"/>
                    <a:pt x="14620" y="0"/>
                    <a:pt x="32655" y="0"/>
                  </a:cubicBezTo>
                  <a:close/>
                </a:path>
              </a:pathLst>
            </a:custGeom>
            <a:solidFill>
              <a:srgbClr val="E4E2DD"/>
            </a:solidFill>
          </p:spPr>
        </p:sp>
        <p:sp>
          <p:nvSpPr>
            <p:cNvPr id="19" name="TextBox 19"/>
            <p:cNvSpPr txBox="1"/>
            <p:nvPr/>
          </p:nvSpPr>
          <p:spPr>
            <a:xfrm>
              <a:off x="0" y="0"/>
              <a:ext cx="936607" cy="1182607"/>
            </a:xfrm>
            <a:prstGeom prst="rect">
              <a:avLst/>
            </a:prstGeom>
          </p:spPr>
          <p:txBody>
            <a:bodyPr lIns="50800" tIns="50800" rIns="50800" bIns="50800" rtlCol="0" anchor="ctr"/>
            <a:lstStyle/>
            <a:p>
              <a:pPr algn="ctr">
                <a:lnSpc>
                  <a:spcPts val="2520"/>
                </a:lnSpc>
              </a:pPr>
              <a:endParaRPr/>
            </a:p>
          </p:txBody>
        </p:sp>
      </p:grpSp>
      <p:sp>
        <p:nvSpPr>
          <p:cNvPr id="20" name="TextBox 20"/>
          <p:cNvSpPr txBox="1"/>
          <p:nvPr/>
        </p:nvSpPr>
        <p:spPr>
          <a:xfrm>
            <a:off x="9579116" y="4591878"/>
            <a:ext cx="3352092"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Simulation Engine</a:t>
            </a:r>
          </a:p>
        </p:txBody>
      </p:sp>
      <p:sp>
        <p:nvSpPr>
          <p:cNvPr id="21" name="TextBox 21"/>
          <p:cNvSpPr txBox="1"/>
          <p:nvPr/>
        </p:nvSpPr>
        <p:spPr>
          <a:xfrm>
            <a:off x="9380427" y="5256283"/>
            <a:ext cx="3766450" cy="3526606"/>
          </a:xfrm>
          <a:prstGeom prst="rect">
            <a:avLst/>
          </a:prstGeom>
        </p:spPr>
        <p:txBody>
          <a:bodyPr lIns="0" tIns="0" rIns="0" bIns="0" rtlCol="0" anchor="t">
            <a:spAutoFit/>
          </a:bodyPr>
          <a:lstStyle/>
          <a:p>
            <a:pPr marL="453390" lvl="1" indent="-226695" algn="l">
              <a:lnSpc>
                <a:spcPts val="2520"/>
              </a:lnSpc>
              <a:buFont typeface="Arial"/>
              <a:buChar char="•"/>
            </a:pPr>
            <a:r>
              <a:rPr lang="en-US" sz="2100" spc="-42" dirty="0">
                <a:solidFill>
                  <a:srgbClr val="E4E2DD"/>
                </a:solidFill>
                <a:latin typeface="Montserrat"/>
                <a:ea typeface="Montserrat"/>
                <a:cs typeface="Montserrat"/>
                <a:sym typeface="Montserrat"/>
              </a:rPr>
              <a:t>Background thread  starts</a:t>
            </a:r>
          </a:p>
          <a:p>
            <a:pPr marL="453390" lvl="1" indent="-226695" algn="l">
              <a:lnSpc>
                <a:spcPts val="2520"/>
              </a:lnSpc>
              <a:buFont typeface="Arial"/>
              <a:buChar char="•"/>
            </a:pPr>
            <a:r>
              <a:rPr lang="en-US" sz="2100" spc="-42" dirty="0">
                <a:solidFill>
                  <a:srgbClr val="E4E2DD"/>
                </a:solidFill>
                <a:latin typeface="Montserrat"/>
                <a:ea typeface="Montserrat"/>
                <a:cs typeface="Montserrat"/>
                <a:sym typeface="Montserrat"/>
              </a:rPr>
              <a:t>Truck moves to pickup location (phase-1)</a:t>
            </a:r>
          </a:p>
          <a:p>
            <a:pPr marL="453390" lvl="1" indent="-226695" algn="l">
              <a:lnSpc>
                <a:spcPts val="2520"/>
              </a:lnSpc>
              <a:buFont typeface="Arial"/>
              <a:buChar char="•"/>
            </a:pPr>
            <a:r>
              <a:rPr lang="en-US" sz="2100" spc="-42" dirty="0">
                <a:solidFill>
                  <a:srgbClr val="E4E2DD"/>
                </a:solidFill>
                <a:latin typeface="Montserrat"/>
                <a:ea typeface="Montserrat"/>
                <a:cs typeface="Montserrat"/>
                <a:sym typeface="Montserrat"/>
              </a:rPr>
              <a:t>Status changes: ARRIVED_DRIVER → LOADED</a:t>
            </a:r>
          </a:p>
          <a:p>
            <a:pPr marL="453390" lvl="1" indent="-226695" algn="l">
              <a:lnSpc>
                <a:spcPts val="2520"/>
              </a:lnSpc>
              <a:buFont typeface="Arial"/>
              <a:buChar char="•"/>
            </a:pPr>
            <a:r>
              <a:rPr lang="en-US" sz="2100" spc="-42" dirty="0">
                <a:solidFill>
                  <a:srgbClr val="E4E2DD"/>
                </a:solidFill>
                <a:latin typeface="Montserrat"/>
                <a:ea typeface="Montserrat"/>
                <a:cs typeface="Montserrat"/>
                <a:sym typeface="Montserrat"/>
              </a:rPr>
              <a:t>Truck then moves to drop location (phase-2)</a:t>
            </a:r>
          </a:p>
          <a:p>
            <a:pPr marL="453390" lvl="1" indent="-226695" algn="l">
              <a:lnSpc>
                <a:spcPts val="2520"/>
              </a:lnSpc>
              <a:buFont typeface="Arial"/>
              <a:buChar char="•"/>
            </a:pPr>
            <a:r>
              <a:rPr lang="en-US" sz="2100" spc="-42" dirty="0">
                <a:solidFill>
                  <a:srgbClr val="E4E2DD"/>
                </a:solidFill>
                <a:latin typeface="Montserrat"/>
                <a:ea typeface="Montserrat"/>
                <a:cs typeface="Montserrat"/>
                <a:sym typeface="Montserrat"/>
              </a:rPr>
              <a:t>Status → COMPLETED</a:t>
            </a:r>
          </a:p>
          <a:p>
            <a:pPr algn="l">
              <a:lnSpc>
                <a:spcPts val="2520"/>
              </a:lnSpc>
            </a:pPr>
            <a:endParaRPr lang="en-US" sz="2100" spc="-42" dirty="0">
              <a:solidFill>
                <a:srgbClr val="E4E2DD"/>
              </a:solidFill>
              <a:latin typeface="Montserrat"/>
              <a:ea typeface="Montserrat"/>
              <a:cs typeface="Montserrat"/>
              <a:sym typeface="Montserrat"/>
            </a:endParaRPr>
          </a:p>
        </p:txBody>
      </p:sp>
      <p:sp>
        <p:nvSpPr>
          <p:cNvPr id="22" name="TextBox 22"/>
          <p:cNvSpPr txBox="1"/>
          <p:nvPr/>
        </p:nvSpPr>
        <p:spPr>
          <a:xfrm>
            <a:off x="13608621" y="4609355"/>
            <a:ext cx="3426547" cy="383159"/>
          </a:xfrm>
          <a:prstGeom prst="rect">
            <a:avLst/>
          </a:prstGeom>
        </p:spPr>
        <p:txBody>
          <a:bodyPr lIns="0" tIns="0" rIns="0" bIns="0" rtlCol="0" anchor="t">
            <a:spAutoFit/>
          </a:bodyPr>
          <a:lstStyle/>
          <a:p>
            <a:pPr algn="l">
              <a:lnSpc>
                <a:spcPts val="2848"/>
              </a:lnSpc>
            </a:pPr>
            <a:r>
              <a:rPr lang="en-US" sz="3200" b="1" spc="-140">
                <a:solidFill>
                  <a:srgbClr val="292929"/>
                </a:solidFill>
                <a:latin typeface="Aileron Bold"/>
                <a:ea typeface="Aileron Bold"/>
                <a:cs typeface="Aileron Bold"/>
                <a:sym typeface="Aileron Bold"/>
              </a:rPr>
              <a:t>Tracking on Map</a:t>
            </a:r>
          </a:p>
        </p:txBody>
      </p:sp>
      <p:sp>
        <p:nvSpPr>
          <p:cNvPr id="23" name="TextBox 23"/>
          <p:cNvSpPr txBox="1"/>
          <p:nvPr/>
        </p:nvSpPr>
        <p:spPr>
          <a:xfrm>
            <a:off x="13764554" y="5368614"/>
            <a:ext cx="2912307" cy="2200275"/>
          </a:xfrm>
          <a:prstGeom prst="rect">
            <a:avLst/>
          </a:prstGeom>
        </p:spPr>
        <p:txBody>
          <a:bodyPr lIns="0" tIns="0" rIns="0" bIns="0" rtlCol="0" anchor="t">
            <a:spAutoFit/>
          </a:bodyPr>
          <a:lstStyle/>
          <a:p>
            <a:pPr marL="453390" lvl="1" indent="-226695" algn="l">
              <a:lnSpc>
                <a:spcPts val="2520"/>
              </a:lnSpc>
              <a:buFont typeface="Arial"/>
              <a:buChar char="•"/>
            </a:pPr>
            <a:r>
              <a:rPr lang="en-US" sz="2100" spc="-42">
                <a:solidFill>
                  <a:srgbClr val="292929"/>
                </a:solidFill>
                <a:latin typeface="Montserrat"/>
                <a:ea typeface="Montserrat"/>
                <a:cs typeface="Montserrat"/>
                <a:sym typeface="Montserrat"/>
              </a:rPr>
              <a:t>Frontend periodically fetches updated coordinates</a:t>
            </a:r>
          </a:p>
          <a:p>
            <a:pPr marL="453390" lvl="1" indent="-226695" algn="l">
              <a:lnSpc>
                <a:spcPts val="2520"/>
              </a:lnSpc>
              <a:buFont typeface="Arial"/>
              <a:buChar char="•"/>
            </a:pPr>
            <a:r>
              <a:rPr lang="en-US" sz="2100" spc="-42">
                <a:solidFill>
                  <a:srgbClr val="292929"/>
                </a:solidFill>
                <a:latin typeface="Montserrat"/>
                <a:ea typeface="Montserrat"/>
                <a:cs typeface="Montserrat"/>
                <a:sym typeface="Montserrat"/>
              </a:rPr>
              <a:t>User sees live truck movement</a:t>
            </a:r>
          </a:p>
          <a:p>
            <a:pPr algn="l">
              <a:lnSpc>
                <a:spcPts val="2520"/>
              </a:lnSpc>
            </a:pPr>
            <a:endParaRPr lang="en-US" sz="2100" spc="-42">
              <a:solidFill>
                <a:srgbClr val="292929"/>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028700" y="1376362"/>
            <a:ext cx="4621257" cy="1490218"/>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System </a:t>
            </a:r>
          </a:p>
          <a:p>
            <a:pPr algn="l">
              <a:lnSpc>
                <a:spcPts val="5695"/>
              </a:lnSpc>
            </a:pPr>
            <a:r>
              <a:rPr lang="en-US" sz="6399" b="1" spc="-281">
                <a:solidFill>
                  <a:srgbClr val="E4E2DD"/>
                </a:solidFill>
                <a:latin typeface="Aileron Bold"/>
                <a:ea typeface="Aileron Bold"/>
                <a:cs typeface="Aileron Bold"/>
                <a:sym typeface="Aileron Bold"/>
              </a:rPr>
              <a:t>Architecture </a:t>
            </a:r>
          </a:p>
        </p:txBody>
      </p:sp>
      <p:grpSp>
        <p:nvGrpSpPr>
          <p:cNvPr id="4" name="Group 4"/>
          <p:cNvGrpSpPr/>
          <p:nvPr/>
        </p:nvGrpSpPr>
        <p:grpSpPr>
          <a:xfrm>
            <a:off x="7209790" y="568211"/>
            <a:ext cx="3494455" cy="1587728"/>
            <a:chOff x="0" y="0"/>
            <a:chExt cx="987146" cy="448516"/>
          </a:xfrm>
        </p:grpSpPr>
        <p:sp>
          <p:nvSpPr>
            <p:cNvPr id="5" name="Freeform 5"/>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000000">
                <a:alpha val="0"/>
              </a:srgbClr>
            </a:solidFill>
            <a:ln w="38100" cap="sq">
              <a:solidFill>
                <a:srgbClr val="E4E2DD"/>
              </a:solidFill>
              <a:prstDash val="solid"/>
              <a:miter/>
            </a:ln>
          </p:spPr>
        </p:sp>
        <p:sp>
          <p:nvSpPr>
            <p:cNvPr id="6" name="TextBox 6"/>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7209790" y="2701927"/>
            <a:ext cx="3494455" cy="1587728"/>
            <a:chOff x="0" y="0"/>
            <a:chExt cx="987146" cy="448516"/>
          </a:xfrm>
        </p:grpSpPr>
        <p:sp>
          <p:nvSpPr>
            <p:cNvPr id="8" name="Freeform 8"/>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E4E2DD"/>
            </a:solidFill>
          </p:spPr>
        </p:sp>
        <p:sp>
          <p:nvSpPr>
            <p:cNvPr id="9" name="TextBox 9"/>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sp>
        <p:nvSpPr>
          <p:cNvPr id="10" name="TextBox 10"/>
          <p:cNvSpPr txBox="1"/>
          <p:nvPr/>
        </p:nvSpPr>
        <p:spPr>
          <a:xfrm>
            <a:off x="7523859" y="978535"/>
            <a:ext cx="2866317" cy="82423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User Panel</a:t>
            </a:r>
          </a:p>
          <a:p>
            <a:pPr algn="ctr">
              <a:lnSpc>
                <a:spcPts val="3200"/>
              </a:lnSpc>
            </a:pPr>
            <a:r>
              <a:rPr lang="en-US" sz="3200" b="1" spc="-140">
                <a:solidFill>
                  <a:srgbClr val="E4E2DD"/>
                </a:solidFill>
                <a:latin typeface="Aileron Bold"/>
                <a:ea typeface="Aileron Bold"/>
                <a:cs typeface="Aileron Bold"/>
                <a:sym typeface="Aileron Bold"/>
              </a:rPr>
              <a:t>(Web UI)</a:t>
            </a:r>
          </a:p>
        </p:txBody>
      </p:sp>
      <p:sp>
        <p:nvSpPr>
          <p:cNvPr id="11" name="TextBox 11"/>
          <p:cNvSpPr txBox="1"/>
          <p:nvPr/>
        </p:nvSpPr>
        <p:spPr>
          <a:xfrm>
            <a:off x="7277698" y="3112251"/>
            <a:ext cx="3426547" cy="824230"/>
          </a:xfrm>
          <a:prstGeom prst="rect">
            <a:avLst/>
          </a:prstGeom>
        </p:spPr>
        <p:txBody>
          <a:bodyPr lIns="0" tIns="0" rIns="0" bIns="0" rtlCol="0" anchor="t">
            <a:spAutoFit/>
          </a:bodyPr>
          <a:lstStyle/>
          <a:p>
            <a:pPr algn="ctr">
              <a:lnSpc>
                <a:spcPts val="3200"/>
              </a:lnSpc>
            </a:pPr>
            <a:r>
              <a:rPr lang="en-US" sz="3200" b="1" spc="-140">
                <a:solidFill>
                  <a:srgbClr val="292929"/>
                </a:solidFill>
                <a:latin typeface="Aileron Bold"/>
                <a:ea typeface="Aileron Bold"/>
                <a:cs typeface="Aileron Bold"/>
                <a:sym typeface="Aileron Bold"/>
              </a:rPr>
              <a:t>Flask Backend</a:t>
            </a:r>
          </a:p>
          <a:p>
            <a:pPr algn="ctr">
              <a:lnSpc>
                <a:spcPts val="3200"/>
              </a:lnSpc>
            </a:pPr>
            <a:r>
              <a:rPr lang="en-US" sz="3200" b="1" spc="-140">
                <a:solidFill>
                  <a:srgbClr val="292929"/>
                </a:solidFill>
                <a:latin typeface="Aileron Bold"/>
                <a:ea typeface="Aileron Bold"/>
                <a:cs typeface="Aileron Bold"/>
                <a:sym typeface="Aileron Bold"/>
              </a:rPr>
              <a:t>(Rest API)</a:t>
            </a:r>
          </a:p>
        </p:txBody>
      </p:sp>
      <p:grpSp>
        <p:nvGrpSpPr>
          <p:cNvPr id="12" name="Group 12"/>
          <p:cNvGrpSpPr/>
          <p:nvPr/>
        </p:nvGrpSpPr>
        <p:grpSpPr>
          <a:xfrm>
            <a:off x="7209790" y="4784955"/>
            <a:ext cx="3494455" cy="1587728"/>
            <a:chOff x="0" y="0"/>
            <a:chExt cx="987146" cy="448516"/>
          </a:xfrm>
        </p:grpSpPr>
        <p:sp>
          <p:nvSpPr>
            <p:cNvPr id="13" name="Freeform 13"/>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000000">
                <a:alpha val="0"/>
              </a:srgbClr>
            </a:solidFill>
            <a:ln w="38100" cap="sq">
              <a:solidFill>
                <a:srgbClr val="E4E2DD"/>
              </a:solidFill>
              <a:prstDash val="solid"/>
              <a:miter/>
            </a:ln>
          </p:spPr>
        </p:sp>
        <p:sp>
          <p:nvSpPr>
            <p:cNvPr id="14" name="TextBox 14"/>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sp>
        <p:nvSpPr>
          <p:cNvPr id="15" name="TextBox 15"/>
          <p:cNvSpPr txBox="1"/>
          <p:nvPr/>
        </p:nvSpPr>
        <p:spPr>
          <a:xfrm>
            <a:off x="7366824" y="4995254"/>
            <a:ext cx="3180386" cy="12242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Simulator Engine</a:t>
            </a:r>
          </a:p>
          <a:p>
            <a:pPr algn="ctr">
              <a:lnSpc>
                <a:spcPts val="3200"/>
              </a:lnSpc>
            </a:pPr>
            <a:r>
              <a:rPr lang="en-US" sz="3200" b="1" spc="-140">
                <a:solidFill>
                  <a:srgbClr val="E4E2DD"/>
                </a:solidFill>
                <a:latin typeface="Aileron Bold"/>
                <a:ea typeface="Aileron Bold"/>
                <a:cs typeface="Aileron Bold"/>
                <a:sym typeface="Aileron Bold"/>
              </a:rPr>
              <a:t>(Background Thread)</a:t>
            </a:r>
          </a:p>
        </p:txBody>
      </p:sp>
      <p:grpSp>
        <p:nvGrpSpPr>
          <p:cNvPr id="16" name="Group 16"/>
          <p:cNvGrpSpPr/>
          <p:nvPr/>
        </p:nvGrpSpPr>
        <p:grpSpPr>
          <a:xfrm>
            <a:off x="7209790" y="6839408"/>
            <a:ext cx="3494455" cy="1587728"/>
            <a:chOff x="0" y="0"/>
            <a:chExt cx="987146" cy="448516"/>
          </a:xfrm>
        </p:grpSpPr>
        <p:sp>
          <p:nvSpPr>
            <p:cNvPr id="17" name="Freeform 17"/>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E4E2DD"/>
            </a:solidFill>
          </p:spPr>
        </p:sp>
        <p:sp>
          <p:nvSpPr>
            <p:cNvPr id="18" name="TextBox 18"/>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7277698" y="7249732"/>
            <a:ext cx="3426547" cy="824230"/>
          </a:xfrm>
          <a:prstGeom prst="rect">
            <a:avLst/>
          </a:prstGeom>
        </p:spPr>
        <p:txBody>
          <a:bodyPr lIns="0" tIns="0" rIns="0" bIns="0" rtlCol="0" anchor="t">
            <a:spAutoFit/>
          </a:bodyPr>
          <a:lstStyle/>
          <a:p>
            <a:pPr algn="ctr">
              <a:lnSpc>
                <a:spcPts val="3200"/>
              </a:lnSpc>
            </a:pPr>
            <a:r>
              <a:rPr lang="en-US" sz="3200" b="1" spc="-140">
                <a:solidFill>
                  <a:srgbClr val="292929"/>
                </a:solidFill>
                <a:latin typeface="Aileron Bold"/>
                <a:ea typeface="Aileron Bold"/>
                <a:cs typeface="Aileron Bold"/>
                <a:sym typeface="Aileron Bold"/>
              </a:rPr>
              <a:t>data.json</a:t>
            </a:r>
          </a:p>
          <a:p>
            <a:pPr algn="ctr">
              <a:lnSpc>
                <a:spcPts val="3200"/>
              </a:lnSpc>
            </a:pPr>
            <a:r>
              <a:rPr lang="en-US" sz="3200" b="1" spc="-140">
                <a:solidFill>
                  <a:srgbClr val="292929"/>
                </a:solidFill>
                <a:latin typeface="Aileron Bold"/>
                <a:ea typeface="Aileron Bold"/>
                <a:cs typeface="Aileron Bold"/>
                <a:sym typeface="Aileron Bold"/>
              </a:rPr>
              <a:t>Database</a:t>
            </a:r>
          </a:p>
        </p:txBody>
      </p:sp>
      <p:grpSp>
        <p:nvGrpSpPr>
          <p:cNvPr id="20" name="Group 20"/>
          <p:cNvGrpSpPr/>
          <p:nvPr/>
        </p:nvGrpSpPr>
        <p:grpSpPr>
          <a:xfrm>
            <a:off x="3070844" y="8150911"/>
            <a:ext cx="3494455" cy="1587728"/>
            <a:chOff x="0" y="0"/>
            <a:chExt cx="987146" cy="448516"/>
          </a:xfrm>
        </p:grpSpPr>
        <p:sp>
          <p:nvSpPr>
            <p:cNvPr id="21" name="Freeform 21"/>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000000">
                <a:alpha val="0"/>
              </a:srgbClr>
            </a:solidFill>
            <a:ln w="38100" cap="sq">
              <a:solidFill>
                <a:srgbClr val="E4E2DD"/>
              </a:solidFill>
              <a:prstDash val="solid"/>
              <a:miter/>
            </a:ln>
          </p:spPr>
        </p:sp>
        <p:sp>
          <p:nvSpPr>
            <p:cNvPr id="22" name="TextBox 22"/>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sp>
        <p:nvSpPr>
          <p:cNvPr id="23" name="TextBox 23"/>
          <p:cNvSpPr txBox="1"/>
          <p:nvPr/>
        </p:nvSpPr>
        <p:spPr>
          <a:xfrm>
            <a:off x="3227879" y="8561235"/>
            <a:ext cx="3180386" cy="82423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Driver Panel</a:t>
            </a:r>
          </a:p>
          <a:p>
            <a:pPr algn="ctr">
              <a:lnSpc>
                <a:spcPts val="3200"/>
              </a:lnSpc>
            </a:pPr>
            <a:r>
              <a:rPr lang="en-US" sz="3200" b="1" spc="-140">
                <a:solidFill>
                  <a:srgbClr val="E4E2DD"/>
                </a:solidFill>
                <a:latin typeface="Aileron Bold"/>
                <a:ea typeface="Aileron Bold"/>
                <a:cs typeface="Aileron Bold"/>
                <a:sym typeface="Aileron Bold"/>
              </a:rPr>
              <a:t>(Web UI)</a:t>
            </a:r>
          </a:p>
        </p:txBody>
      </p:sp>
      <p:grpSp>
        <p:nvGrpSpPr>
          <p:cNvPr id="24" name="Group 24"/>
          <p:cNvGrpSpPr/>
          <p:nvPr/>
        </p:nvGrpSpPr>
        <p:grpSpPr>
          <a:xfrm>
            <a:off x="11348735" y="8150911"/>
            <a:ext cx="3494455" cy="1587728"/>
            <a:chOff x="0" y="0"/>
            <a:chExt cx="987146" cy="448516"/>
          </a:xfrm>
        </p:grpSpPr>
        <p:sp>
          <p:nvSpPr>
            <p:cNvPr id="25" name="Freeform 25"/>
            <p:cNvSpPr/>
            <p:nvPr/>
          </p:nvSpPr>
          <p:spPr>
            <a:xfrm>
              <a:off x="0" y="0"/>
              <a:ext cx="987146" cy="448516"/>
            </a:xfrm>
            <a:custGeom>
              <a:avLst/>
              <a:gdLst/>
              <a:ahLst/>
              <a:cxnLst/>
              <a:rect l="l" t="t" r="r" b="b"/>
              <a:pathLst>
                <a:path w="987146" h="448516">
                  <a:moveTo>
                    <a:pt x="33232" y="0"/>
                  </a:moveTo>
                  <a:lnTo>
                    <a:pt x="953914" y="0"/>
                  </a:lnTo>
                  <a:cubicBezTo>
                    <a:pt x="962728" y="0"/>
                    <a:pt x="971180" y="3501"/>
                    <a:pt x="977413" y="9734"/>
                  </a:cubicBezTo>
                  <a:cubicBezTo>
                    <a:pt x="983645" y="15966"/>
                    <a:pt x="987146" y="24419"/>
                    <a:pt x="987146" y="33232"/>
                  </a:cubicBezTo>
                  <a:lnTo>
                    <a:pt x="987146" y="415284"/>
                  </a:lnTo>
                  <a:cubicBezTo>
                    <a:pt x="987146" y="424098"/>
                    <a:pt x="983645" y="432550"/>
                    <a:pt x="977413" y="438783"/>
                  </a:cubicBezTo>
                  <a:cubicBezTo>
                    <a:pt x="971180" y="445015"/>
                    <a:pt x="962728" y="448516"/>
                    <a:pt x="953914" y="448516"/>
                  </a:cubicBezTo>
                  <a:lnTo>
                    <a:pt x="33232" y="448516"/>
                  </a:lnTo>
                  <a:cubicBezTo>
                    <a:pt x="24419" y="448516"/>
                    <a:pt x="15966" y="445015"/>
                    <a:pt x="9734" y="438783"/>
                  </a:cubicBezTo>
                  <a:cubicBezTo>
                    <a:pt x="3501" y="432550"/>
                    <a:pt x="0" y="424098"/>
                    <a:pt x="0" y="415284"/>
                  </a:cubicBezTo>
                  <a:lnTo>
                    <a:pt x="0" y="33232"/>
                  </a:lnTo>
                  <a:cubicBezTo>
                    <a:pt x="0" y="24419"/>
                    <a:pt x="3501" y="15966"/>
                    <a:pt x="9734" y="9734"/>
                  </a:cubicBezTo>
                  <a:cubicBezTo>
                    <a:pt x="15966" y="3501"/>
                    <a:pt x="24419" y="0"/>
                    <a:pt x="33232" y="0"/>
                  </a:cubicBezTo>
                  <a:close/>
                </a:path>
              </a:pathLst>
            </a:custGeom>
            <a:solidFill>
              <a:srgbClr val="000000">
                <a:alpha val="0"/>
              </a:srgbClr>
            </a:solidFill>
            <a:ln w="38100" cap="sq">
              <a:solidFill>
                <a:srgbClr val="E4E2DD"/>
              </a:solidFill>
              <a:prstDash val="solid"/>
              <a:miter/>
            </a:ln>
          </p:spPr>
        </p:sp>
        <p:sp>
          <p:nvSpPr>
            <p:cNvPr id="26" name="TextBox 26"/>
            <p:cNvSpPr txBox="1"/>
            <p:nvPr/>
          </p:nvSpPr>
          <p:spPr>
            <a:xfrm>
              <a:off x="0" y="0"/>
              <a:ext cx="987146" cy="448516"/>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11505770" y="8561235"/>
            <a:ext cx="3180386" cy="82423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Map View (Tracking UI)</a:t>
            </a:r>
          </a:p>
        </p:txBody>
      </p:sp>
      <p:sp>
        <p:nvSpPr>
          <p:cNvPr id="28" name="AutoShape 28"/>
          <p:cNvSpPr/>
          <p:nvPr/>
        </p:nvSpPr>
        <p:spPr>
          <a:xfrm>
            <a:off x="8957017" y="2155939"/>
            <a:ext cx="0" cy="545988"/>
          </a:xfrm>
          <a:prstGeom prst="line">
            <a:avLst/>
          </a:prstGeom>
          <a:ln w="76200" cap="flat">
            <a:solidFill>
              <a:srgbClr val="FFFFFF"/>
            </a:solidFill>
            <a:prstDash val="sysDot"/>
            <a:headEnd type="none" w="sm" len="sm"/>
            <a:tailEnd type="arrow" w="med" len="sm"/>
          </a:ln>
        </p:spPr>
      </p:sp>
      <p:sp>
        <p:nvSpPr>
          <p:cNvPr id="29" name="AutoShape 29"/>
          <p:cNvSpPr/>
          <p:nvPr/>
        </p:nvSpPr>
        <p:spPr>
          <a:xfrm>
            <a:off x="8957017" y="4289655"/>
            <a:ext cx="0" cy="495300"/>
          </a:xfrm>
          <a:prstGeom prst="line">
            <a:avLst/>
          </a:prstGeom>
          <a:ln w="76200" cap="flat">
            <a:solidFill>
              <a:srgbClr val="FFFFFF"/>
            </a:solidFill>
            <a:prstDash val="sysDot"/>
            <a:headEnd type="none" w="sm" len="sm"/>
            <a:tailEnd type="arrow" w="med" len="sm"/>
          </a:ln>
        </p:spPr>
      </p:sp>
      <p:sp>
        <p:nvSpPr>
          <p:cNvPr id="30" name="AutoShape 30"/>
          <p:cNvSpPr/>
          <p:nvPr/>
        </p:nvSpPr>
        <p:spPr>
          <a:xfrm>
            <a:off x="8957017" y="6372683"/>
            <a:ext cx="0" cy="466725"/>
          </a:xfrm>
          <a:prstGeom prst="line">
            <a:avLst/>
          </a:prstGeom>
          <a:ln w="76200" cap="flat">
            <a:solidFill>
              <a:srgbClr val="FFFFFF"/>
            </a:solidFill>
            <a:prstDash val="sysDot"/>
            <a:headEnd type="none" w="sm" len="sm"/>
            <a:tailEnd type="arrow" w="med" len="sm"/>
          </a:ln>
        </p:spPr>
      </p:sp>
      <p:sp>
        <p:nvSpPr>
          <p:cNvPr id="31" name="AutoShape 31"/>
          <p:cNvSpPr/>
          <p:nvPr/>
        </p:nvSpPr>
        <p:spPr>
          <a:xfrm flipH="1">
            <a:off x="4818072" y="7633272"/>
            <a:ext cx="2391718" cy="517639"/>
          </a:xfrm>
          <a:prstGeom prst="line">
            <a:avLst/>
          </a:prstGeom>
          <a:ln w="76200" cap="flat">
            <a:solidFill>
              <a:srgbClr val="FFFFFF"/>
            </a:solidFill>
            <a:prstDash val="sysDot"/>
            <a:headEnd type="none" w="sm" len="sm"/>
            <a:tailEnd type="arrow" w="med" len="sm"/>
          </a:ln>
        </p:spPr>
      </p:sp>
      <p:sp>
        <p:nvSpPr>
          <p:cNvPr id="32" name="AutoShape 32"/>
          <p:cNvSpPr/>
          <p:nvPr/>
        </p:nvSpPr>
        <p:spPr>
          <a:xfrm>
            <a:off x="10704245" y="7633272"/>
            <a:ext cx="2391718" cy="517639"/>
          </a:xfrm>
          <a:prstGeom prst="line">
            <a:avLst/>
          </a:prstGeom>
          <a:ln w="76200" cap="flat">
            <a:solidFill>
              <a:srgbClr val="FFFFFF"/>
            </a:solidFill>
            <a:prstDash val="sysDot"/>
            <a:headEnd type="none" w="sm" len="sm"/>
            <a:tailEnd type="arrow" w="med"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028700" y="1376362"/>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Workflow</a:t>
            </a:r>
          </a:p>
        </p:txBody>
      </p:sp>
      <p:grpSp>
        <p:nvGrpSpPr>
          <p:cNvPr id="4" name="Group 4"/>
          <p:cNvGrpSpPr/>
          <p:nvPr/>
        </p:nvGrpSpPr>
        <p:grpSpPr>
          <a:xfrm>
            <a:off x="1028700" y="2635113"/>
            <a:ext cx="3294700" cy="1249312"/>
            <a:chOff x="0" y="0"/>
            <a:chExt cx="867740" cy="329037"/>
          </a:xfrm>
        </p:grpSpPr>
        <p:sp>
          <p:nvSpPr>
            <p:cNvPr id="5" name="Freeform 5"/>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6" name="TextBox 6"/>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7" name="TextBox 7"/>
          <p:cNvSpPr txBox="1"/>
          <p:nvPr/>
        </p:nvSpPr>
        <p:spPr>
          <a:xfrm>
            <a:off x="1242891" y="2962590"/>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Open Web Application</a:t>
            </a:r>
          </a:p>
        </p:txBody>
      </p:sp>
      <p:grpSp>
        <p:nvGrpSpPr>
          <p:cNvPr id="8" name="Group 8"/>
          <p:cNvGrpSpPr/>
          <p:nvPr/>
        </p:nvGrpSpPr>
        <p:grpSpPr>
          <a:xfrm>
            <a:off x="5453420" y="2635113"/>
            <a:ext cx="3294700" cy="1249312"/>
            <a:chOff x="0" y="0"/>
            <a:chExt cx="867740" cy="329037"/>
          </a:xfrm>
        </p:grpSpPr>
        <p:sp>
          <p:nvSpPr>
            <p:cNvPr id="9" name="Freeform 9"/>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10" name="TextBox 10"/>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11" name="TextBox 11"/>
          <p:cNvSpPr txBox="1"/>
          <p:nvPr/>
        </p:nvSpPr>
        <p:spPr>
          <a:xfrm>
            <a:off x="5667612" y="2962590"/>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Select Pick up and Drop Location</a:t>
            </a:r>
          </a:p>
        </p:txBody>
      </p:sp>
      <p:grpSp>
        <p:nvGrpSpPr>
          <p:cNvPr id="12" name="Group 12"/>
          <p:cNvGrpSpPr/>
          <p:nvPr/>
        </p:nvGrpSpPr>
        <p:grpSpPr>
          <a:xfrm>
            <a:off x="9881595" y="2635113"/>
            <a:ext cx="3294700" cy="1249312"/>
            <a:chOff x="0" y="0"/>
            <a:chExt cx="867740" cy="329037"/>
          </a:xfrm>
        </p:grpSpPr>
        <p:sp>
          <p:nvSpPr>
            <p:cNvPr id="13" name="Freeform 13"/>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14" name="TextBox 14"/>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15" name="TextBox 15"/>
          <p:cNvSpPr txBox="1"/>
          <p:nvPr/>
        </p:nvSpPr>
        <p:spPr>
          <a:xfrm>
            <a:off x="10095786" y="2962590"/>
            <a:ext cx="2866317" cy="615553"/>
          </a:xfrm>
          <a:prstGeom prst="rect">
            <a:avLst/>
          </a:prstGeom>
        </p:spPr>
        <p:txBody>
          <a:bodyPr lIns="0" tIns="0" rIns="0" bIns="0" rtlCol="0" anchor="t">
            <a:spAutoFit/>
          </a:bodyPr>
          <a:lstStyle/>
          <a:p>
            <a:pPr algn="ctr">
              <a:lnSpc>
                <a:spcPts val="2400"/>
              </a:lnSpc>
            </a:pPr>
            <a:r>
              <a:rPr lang="en-US" sz="2400" b="1" spc="-105" dirty="0">
                <a:solidFill>
                  <a:srgbClr val="E4E2DD"/>
                </a:solidFill>
                <a:latin typeface="Aileron Bold"/>
                <a:ea typeface="Aileron Bold"/>
                <a:cs typeface="Aileron Bold"/>
                <a:sym typeface="Aileron Bold"/>
              </a:rPr>
              <a:t>Calculate </a:t>
            </a:r>
          </a:p>
          <a:p>
            <a:pPr algn="ctr">
              <a:lnSpc>
                <a:spcPts val="2400"/>
              </a:lnSpc>
            </a:pPr>
            <a:r>
              <a:rPr lang="en-US" sz="2400" b="1" spc="-105" dirty="0">
                <a:solidFill>
                  <a:srgbClr val="E4E2DD"/>
                </a:solidFill>
                <a:latin typeface="Aileron Bold"/>
                <a:ea typeface="Aileron Bold"/>
                <a:cs typeface="Aileron Bold"/>
                <a:sym typeface="Aileron Bold"/>
              </a:rPr>
              <a:t>Fare</a:t>
            </a:r>
          </a:p>
        </p:txBody>
      </p:sp>
      <p:grpSp>
        <p:nvGrpSpPr>
          <p:cNvPr id="16" name="Group 16"/>
          <p:cNvGrpSpPr/>
          <p:nvPr/>
        </p:nvGrpSpPr>
        <p:grpSpPr>
          <a:xfrm>
            <a:off x="14309770" y="2635113"/>
            <a:ext cx="3294700" cy="1249312"/>
            <a:chOff x="0" y="0"/>
            <a:chExt cx="867740" cy="329037"/>
          </a:xfrm>
        </p:grpSpPr>
        <p:sp>
          <p:nvSpPr>
            <p:cNvPr id="17" name="Freeform 17"/>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18" name="TextBox 18"/>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14523961" y="2962590"/>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Make booking request</a:t>
            </a:r>
          </a:p>
        </p:txBody>
      </p:sp>
      <p:grpSp>
        <p:nvGrpSpPr>
          <p:cNvPr id="20" name="Group 20"/>
          <p:cNvGrpSpPr/>
          <p:nvPr/>
        </p:nvGrpSpPr>
        <p:grpSpPr>
          <a:xfrm>
            <a:off x="14309770" y="4736501"/>
            <a:ext cx="3294700" cy="1249312"/>
            <a:chOff x="0" y="0"/>
            <a:chExt cx="867740" cy="329037"/>
          </a:xfrm>
        </p:grpSpPr>
        <p:sp>
          <p:nvSpPr>
            <p:cNvPr id="21" name="Freeform 21"/>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22" name="TextBox 22"/>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23" name="TextBox 23"/>
          <p:cNvSpPr txBox="1"/>
          <p:nvPr/>
        </p:nvSpPr>
        <p:spPr>
          <a:xfrm>
            <a:off x="14523961" y="5063977"/>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Driver receives  booking notification</a:t>
            </a:r>
          </a:p>
        </p:txBody>
      </p:sp>
      <p:grpSp>
        <p:nvGrpSpPr>
          <p:cNvPr id="24" name="Group 24"/>
          <p:cNvGrpSpPr/>
          <p:nvPr/>
        </p:nvGrpSpPr>
        <p:grpSpPr>
          <a:xfrm>
            <a:off x="9881595" y="4736501"/>
            <a:ext cx="3294700" cy="1249312"/>
            <a:chOff x="0" y="0"/>
            <a:chExt cx="867740" cy="329037"/>
          </a:xfrm>
        </p:grpSpPr>
        <p:sp>
          <p:nvSpPr>
            <p:cNvPr id="25" name="Freeform 25"/>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26" name="TextBox 26"/>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10095786" y="5063977"/>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Driver accepts  booking </a:t>
            </a:r>
          </a:p>
        </p:txBody>
      </p:sp>
      <p:grpSp>
        <p:nvGrpSpPr>
          <p:cNvPr id="28" name="Group 28"/>
          <p:cNvGrpSpPr/>
          <p:nvPr/>
        </p:nvGrpSpPr>
        <p:grpSpPr>
          <a:xfrm>
            <a:off x="5453420" y="4736501"/>
            <a:ext cx="3294700" cy="1249312"/>
            <a:chOff x="0" y="0"/>
            <a:chExt cx="867740" cy="329037"/>
          </a:xfrm>
        </p:grpSpPr>
        <p:sp>
          <p:nvSpPr>
            <p:cNvPr id="29" name="Freeform 29"/>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30" name="TextBox 30"/>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31" name="TextBox 31"/>
          <p:cNvSpPr txBox="1"/>
          <p:nvPr/>
        </p:nvSpPr>
        <p:spPr>
          <a:xfrm>
            <a:off x="5667612" y="5063977"/>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Truck move to pickup location</a:t>
            </a:r>
          </a:p>
        </p:txBody>
      </p:sp>
      <p:grpSp>
        <p:nvGrpSpPr>
          <p:cNvPr id="32" name="Group 32"/>
          <p:cNvGrpSpPr/>
          <p:nvPr/>
        </p:nvGrpSpPr>
        <p:grpSpPr>
          <a:xfrm>
            <a:off x="1025246" y="4736501"/>
            <a:ext cx="3294700" cy="1249312"/>
            <a:chOff x="0" y="0"/>
            <a:chExt cx="867740" cy="329037"/>
          </a:xfrm>
        </p:grpSpPr>
        <p:sp>
          <p:nvSpPr>
            <p:cNvPr id="33" name="Freeform 33"/>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34" name="TextBox 34"/>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35" name="TextBox 35"/>
          <p:cNvSpPr txBox="1"/>
          <p:nvPr/>
        </p:nvSpPr>
        <p:spPr>
          <a:xfrm>
            <a:off x="1239437" y="5063977"/>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Driver arrived  and mark loaded</a:t>
            </a:r>
          </a:p>
        </p:txBody>
      </p:sp>
      <p:grpSp>
        <p:nvGrpSpPr>
          <p:cNvPr id="36" name="Group 36"/>
          <p:cNvGrpSpPr/>
          <p:nvPr/>
        </p:nvGrpSpPr>
        <p:grpSpPr>
          <a:xfrm>
            <a:off x="1028700" y="6833538"/>
            <a:ext cx="3294700" cy="1249312"/>
            <a:chOff x="0" y="0"/>
            <a:chExt cx="867740" cy="329037"/>
          </a:xfrm>
        </p:grpSpPr>
        <p:sp>
          <p:nvSpPr>
            <p:cNvPr id="37" name="Freeform 37"/>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38" name="TextBox 38"/>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39" name="TextBox 39"/>
          <p:cNvSpPr txBox="1"/>
          <p:nvPr/>
        </p:nvSpPr>
        <p:spPr>
          <a:xfrm>
            <a:off x="1242891" y="7161014"/>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Truck moves to drop location</a:t>
            </a:r>
          </a:p>
        </p:txBody>
      </p:sp>
      <p:grpSp>
        <p:nvGrpSpPr>
          <p:cNvPr id="40" name="Group 40"/>
          <p:cNvGrpSpPr/>
          <p:nvPr/>
        </p:nvGrpSpPr>
        <p:grpSpPr>
          <a:xfrm>
            <a:off x="5453420" y="6833538"/>
            <a:ext cx="3294700" cy="1249312"/>
            <a:chOff x="0" y="0"/>
            <a:chExt cx="867740" cy="329037"/>
          </a:xfrm>
        </p:grpSpPr>
        <p:sp>
          <p:nvSpPr>
            <p:cNvPr id="41" name="Freeform 41"/>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42" name="TextBox 42"/>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43" name="TextBox 43"/>
          <p:cNvSpPr txBox="1"/>
          <p:nvPr/>
        </p:nvSpPr>
        <p:spPr>
          <a:xfrm>
            <a:off x="5667612" y="7161014"/>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User can track truck live on map</a:t>
            </a:r>
          </a:p>
        </p:txBody>
      </p:sp>
      <p:grpSp>
        <p:nvGrpSpPr>
          <p:cNvPr id="44" name="Group 44"/>
          <p:cNvGrpSpPr/>
          <p:nvPr/>
        </p:nvGrpSpPr>
        <p:grpSpPr>
          <a:xfrm>
            <a:off x="9881595" y="6833538"/>
            <a:ext cx="3294700" cy="1249312"/>
            <a:chOff x="0" y="0"/>
            <a:chExt cx="867740" cy="329037"/>
          </a:xfrm>
        </p:grpSpPr>
        <p:sp>
          <p:nvSpPr>
            <p:cNvPr id="45" name="Freeform 45"/>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46" name="TextBox 46"/>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47" name="TextBox 47"/>
          <p:cNvSpPr txBox="1"/>
          <p:nvPr/>
        </p:nvSpPr>
        <p:spPr>
          <a:xfrm>
            <a:off x="10095786" y="7161014"/>
            <a:ext cx="2866317" cy="6324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Truck reach its destination</a:t>
            </a:r>
          </a:p>
        </p:txBody>
      </p:sp>
      <p:grpSp>
        <p:nvGrpSpPr>
          <p:cNvPr id="48" name="Group 48"/>
          <p:cNvGrpSpPr/>
          <p:nvPr/>
        </p:nvGrpSpPr>
        <p:grpSpPr>
          <a:xfrm>
            <a:off x="14309770" y="6840638"/>
            <a:ext cx="3294700" cy="1249312"/>
            <a:chOff x="0" y="0"/>
            <a:chExt cx="867740" cy="329037"/>
          </a:xfrm>
        </p:grpSpPr>
        <p:sp>
          <p:nvSpPr>
            <p:cNvPr id="49" name="Freeform 49"/>
            <p:cNvSpPr/>
            <p:nvPr/>
          </p:nvSpPr>
          <p:spPr>
            <a:xfrm>
              <a:off x="0" y="0"/>
              <a:ext cx="867740" cy="329037"/>
            </a:xfrm>
            <a:custGeom>
              <a:avLst/>
              <a:gdLst/>
              <a:ahLst/>
              <a:cxnLst/>
              <a:rect l="l" t="t" r="r" b="b"/>
              <a:pathLst>
                <a:path w="867740" h="329037">
                  <a:moveTo>
                    <a:pt x="35247" y="0"/>
                  </a:moveTo>
                  <a:lnTo>
                    <a:pt x="832493" y="0"/>
                  </a:lnTo>
                  <a:cubicBezTo>
                    <a:pt x="851959" y="0"/>
                    <a:pt x="867740" y="15781"/>
                    <a:pt x="867740" y="35247"/>
                  </a:cubicBezTo>
                  <a:lnTo>
                    <a:pt x="867740" y="293790"/>
                  </a:lnTo>
                  <a:cubicBezTo>
                    <a:pt x="867740" y="313256"/>
                    <a:pt x="851959" y="329037"/>
                    <a:pt x="832493" y="329037"/>
                  </a:cubicBezTo>
                  <a:lnTo>
                    <a:pt x="35247" y="329037"/>
                  </a:lnTo>
                  <a:cubicBezTo>
                    <a:pt x="15781" y="329037"/>
                    <a:pt x="0" y="313256"/>
                    <a:pt x="0" y="293790"/>
                  </a:cubicBezTo>
                  <a:lnTo>
                    <a:pt x="0" y="35247"/>
                  </a:lnTo>
                  <a:cubicBezTo>
                    <a:pt x="0" y="15781"/>
                    <a:pt x="15781" y="0"/>
                    <a:pt x="35247" y="0"/>
                  </a:cubicBezTo>
                  <a:close/>
                </a:path>
              </a:pathLst>
            </a:custGeom>
            <a:solidFill>
              <a:srgbClr val="000000">
                <a:alpha val="0"/>
              </a:srgbClr>
            </a:solidFill>
            <a:ln w="38100" cap="sq">
              <a:solidFill>
                <a:srgbClr val="E4E2DD"/>
              </a:solidFill>
              <a:prstDash val="solid"/>
              <a:miter/>
            </a:ln>
          </p:spPr>
        </p:sp>
        <p:sp>
          <p:nvSpPr>
            <p:cNvPr id="50" name="TextBox 50"/>
            <p:cNvSpPr txBox="1"/>
            <p:nvPr/>
          </p:nvSpPr>
          <p:spPr>
            <a:xfrm>
              <a:off x="0" y="0"/>
              <a:ext cx="867740" cy="329037"/>
            </a:xfrm>
            <a:prstGeom prst="rect">
              <a:avLst/>
            </a:prstGeom>
          </p:spPr>
          <p:txBody>
            <a:bodyPr lIns="50800" tIns="50800" rIns="50800" bIns="50800" rtlCol="0" anchor="ctr"/>
            <a:lstStyle/>
            <a:p>
              <a:pPr algn="ctr">
                <a:lnSpc>
                  <a:spcPts val="2520"/>
                </a:lnSpc>
              </a:pPr>
              <a:endParaRPr/>
            </a:p>
          </p:txBody>
        </p:sp>
      </p:grpSp>
      <p:sp>
        <p:nvSpPr>
          <p:cNvPr id="51" name="TextBox 51"/>
          <p:cNvSpPr txBox="1"/>
          <p:nvPr/>
        </p:nvSpPr>
        <p:spPr>
          <a:xfrm>
            <a:off x="14523961" y="7015714"/>
            <a:ext cx="2866317" cy="937260"/>
          </a:xfrm>
          <a:prstGeom prst="rect">
            <a:avLst/>
          </a:prstGeom>
        </p:spPr>
        <p:txBody>
          <a:bodyPr lIns="0" tIns="0" rIns="0" bIns="0" rtlCol="0" anchor="t">
            <a:spAutoFit/>
          </a:bodyPr>
          <a:lstStyle/>
          <a:p>
            <a:pPr algn="ctr">
              <a:lnSpc>
                <a:spcPts val="2400"/>
              </a:lnSpc>
            </a:pPr>
            <a:r>
              <a:rPr lang="en-US" sz="2400" b="1" spc="-105">
                <a:solidFill>
                  <a:srgbClr val="E4E2DD"/>
                </a:solidFill>
                <a:latin typeface="Aileron Bold"/>
                <a:ea typeface="Aileron Bold"/>
                <a:cs typeface="Aileron Bold"/>
                <a:sym typeface="Aileron Bold"/>
              </a:rPr>
              <a:t>Trip completed  and available for new booking</a:t>
            </a:r>
          </a:p>
        </p:txBody>
      </p:sp>
      <p:sp>
        <p:nvSpPr>
          <p:cNvPr id="52" name="AutoShape 52"/>
          <p:cNvSpPr/>
          <p:nvPr/>
        </p:nvSpPr>
        <p:spPr>
          <a:xfrm flipV="1">
            <a:off x="4319945" y="3240718"/>
            <a:ext cx="1180740" cy="0"/>
          </a:xfrm>
          <a:prstGeom prst="line">
            <a:avLst/>
          </a:prstGeom>
          <a:ln w="38100" cap="flat">
            <a:solidFill>
              <a:srgbClr val="FFFFFF"/>
            </a:solidFill>
            <a:prstDash val="solid"/>
            <a:headEnd type="none" w="sm" len="sm"/>
            <a:tailEnd type="arrow" w="med" len="sm"/>
          </a:ln>
        </p:spPr>
      </p:sp>
      <p:sp>
        <p:nvSpPr>
          <p:cNvPr id="53" name="AutoShape 53"/>
          <p:cNvSpPr/>
          <p:nvPr/>
        </p:nvSpPr>
        <p:spPr>
          <a:xfrm>
            <a:off x="8748120" y="3259770"/>
            <a:ext cx="1154157" cy="0"/>
          </a:xfrm>
          <a:prstGeom prst="line">
            <a:avLst/>
          </a:prstGeom>
          <a:ln w="38100" cap="flat">
            <a:solidFill>
              <a:srgbClr val="FFFFFF"/>
            </a:solidFill>
            <a:prstDash val="solid"/>
            <a:headEnd type="none" w="sm" len="sm"/>
            <a:tailEnd type="arrow" w="med" len="sm"/>
          </a:ln>
        </p:spPr>
      </p:sp>
      <p:sp>
        <p:nvSpPr>
          <p:cNvPr id="54" name="AutoShape 54"/>
          <p:cNvSpPr/>
          <p:nvPr/>
        </p:nvSpPr>
        <p:spPr>
          <a:xfrm flipV="1">
            <a:off x="13176295" y="3257020"/>
            <a:ext cx="1181390" cy="2750"/>
          </a:xfrm>
          <a:prstGeom prst="line">
            <a:avLst/>
          </a:prstGeom>
          <a:ln w="38100" cap="flat">
            <a:solidFill>
              <a:srgbClr val="FFFFFF"/>
            </a:solidFill>
            <a:prstDash val="solid"/>
            <a:headEnd type="none" w="sm" len="sm"/>
            <a:tailEnd type="arrow" w="med" len="sm"/>
          </a:ln>
        </p:spPr>
      </p:sp>
      <p:sp>
        <p:nvSpPr>
          <p:cNvPr id="55" name="AutoShape 55"/>
          <p:cNvSpPr/>
          <p:nvPr/>
        </p:nvSpPr>
        <p:spPr>
          <a:xfrm>
            <a:off x="15925800" y="3884424"/>
            <a:ext cx="0" cy="852077"/>
          </a:xfrm>
          <a:prstGeom prst="line">
            <a:avLst/>
          </a:prstGeom>
          <a:ln w="38100" cap="flat">
            <a:solidFill>
              <a:srgbClr val="FFFFFF"/>
            </a:solidFill>
            <a:prstDash val="solid"/>
            <a:headEnd type="none" w="sm" len="sm"/>
            <a:tailEnd type="arrow" w="med" len="sm"/>
          </a:ln>
        </p:spPr>
      </p:sp>
      <p:sp>
        <p:nvSpPr>
          <p:cNvPr id="56" name="AutoShape 56"/>
          <p:cNvSpPr/>
          <p:nvPr/>
        </p:nvSpPr>
        <p:spPr>
          <a:xfrm flipH="1" flipV="1">
            <a:off x="13172840" y="5358404"/>
            <a:ext cx="1136929" cy="2752"/>
          </a:xfrm>
          <a:prstGeom prst="line">
            <a:avLst/>
          </a:prstGeom>
          <a:ln w="38100" cap="flat">
            <a:solidFill>
              <a:srgbClr val="FFFFFF"/>
            </a:solidFill>
            <a:prstDash val="solid"/>
            <a:headEnd type="none" w="sm" len="sm"/>
            <a:tailEnd type="arrow" w="med" len="sm"/>
          </a:ln>
        </p:spPr>
      </p:sp>
      <p:sp>
        <p:nvSpPr>
          <p:cNvPr id="57" name="AutoShape 57"/>
          <p:cNvSpPr/>
          <p:nvPr/>
        </p:nvSpPr>
        <p:spPr>
          <a:xfrm flipH="1">
            <a:off x="8727438" y="5361157"/>
            <a:ext cx="1154157" cy="0"/>
          </a:xfrm>
          <a:prstGeom prst="line">
            <a:avLst/>
          </a:prstGeom>
          <a:ln w="38100" cap="flat">
            <a:solidFill>
              <a:srgbClr val="FFFFFF"/>
            </a:solidFill>
            <a:prstDash val="solid"/>
            <a:headEnd type="none" w="sm" len="sm"/>
            <a:tailEnd type="arrow" w="med" len="sm"/>
          </a:ln>
        </p:spPr>
      </p:sp>
      <p:sp>
        <p:nvSpPr>
          <p:cNvPr id="58" name="AutoShape 58"/>
          <p:cNvSpPr/>
          <p:nvPr/>
        </p:nvSpPr>
        <p:spPr>
          <a:xfrm flipH="1">
            <a:off x="4299263" y="5361157"/>
            <a:ext cx="1154157" cy="0"/>
          </a:xfrm>
          <a:prstGeom prst="line">
            <a:avLst/>
          </a:prstGeom>
          <a:ln w="38100" cap="flat">
            <a:solidFill>
              <a:srgbClr val="FFFFFF"/>
            </a:solidFill>
            <a:prstDash val="solid"/>
            <a:headEnd type="none" w="sm" len="sm"/>
            <a:tailEnd type="arrow" w="med" len="sm"/>
          </a:ln>
        </p:spPr>
      </p:sp>
      <p:sp>
        <p:nvSpPr>
          <p:cNvPr id="59" name="AutoShape 59"/>
          <p:cNvSpPr/>
          <p:nvPr/>
        </p:nvSpPr>
        <p:spPr>
          <a:xfrm>
            <a:off x="2590801" y="5985813"/>
            <a:ext cx="0" cy="885825"/>
          </a:xfrm>
          <a:prstGeom prst="line">
            <a:avLst/>
          </a:prstGeom>
          <a:ln w="38100" cap="flat">
            <a:solidFill>
              <a:srgbClr val="FFFFFF"/>
            </a:solidFill>
            <a:prstDash val="solid"/>
            <a:headEnd type="none" w="sm" len="sm"/>
            <a:tailEnd type="arrow" w="med" len="sm"/>
          </a:ln>
        </p:spPr>
      </p:sp>
      <p:sp>
        <p:nvSpPr>
          <p:cNvPr id="60" name="AutoShape 60"/>
          <p:cNvSpPr/>
          <p:nvPr/>
        </p:nvSpPr>
        <p:spPr>
          <a:xfrm flipV="1">
            <a:off x="4323400" y="7458193"/>
            <a:ext cx="1130020" cy="1"/>
          </a:xfrm>
          <a:prstGeom prst="line">
            <a:avLst/>
          </a:prstGeom>
          <a:ln w="38100" cap="flat">
            <a:solidFill>
              <a:srgbClr val="FFFFFF"/>
            </a:solidFill>
            <a:prstDash val="solid"/>
            <a:headEnd type="none" w="sm" len="sm"/>
            <a:tailEnd type="arrow" w="med" len="sm"/>
          </a:ln>
        </p:spPr>
      </p:sp>
      <p:sp>
        <p:nvSpPr>
          <p:cNvPr id="61" name="AutoShape 61"/>
          <p:cNvSpPr/>
          <p:nvPr/>
        </p:nvSpPr>
        <p:spPr>
          <a:xfrm flipV="1">
            <a:off x="8748120" y="7458193"/>
            <a:ext cx="1136929" cy="1"/>
          </a:xfrm>
          <a:prstGeom prst="line">
            <a:avLst/>
          </a:prstGeom>
          <a:ln w="38100" cap="flat">
            <a:solidFill>
              <a:srgbClr val="FFFFFF"/>
            </a:solidFill>
            <a:prstDash val="solid"/>
            <a:headEnd type="none" w="sm" len="sm"/>
            <a:tailEnd type="arrow" w="med" len="sm"/>
          </a:ln>
        </p:spPr>
      </p:sp>
      <p:sp>
        <p:nvSpPr>
          <p:cNvPr id="62" name="AutoShape 62"/>
          <p:cNvSpPr/>
          <p:nvPr/>
        </p:nvSpPr>
        <p:spPr>
          <a:xfrm flipV="1">
            <a:off x="13172840" y="7455442"/>
            <a:ext cx="1136929" cy="2752"/>
          </a:xfrm>
          <a:prstGeom prst="line">
            <a:avLst/>
          </a:prstGeom>
          <a:ln w="38100" cap="flat">
            <a:solidFill>
              <a:srgbClr val="FFFFFF"/>
            </a:solidFill>
            <a:prstDash val="solid"/>
            <a:headEnd type="none" w="sm" len="sm"/>
            <a:tailEnd type="arrow" w="med"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TextBox 3"/>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4" name="TextBox 4"/>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5" name="TextBox 5"/>
          <p:cNvSpPr txBox="1"/>
          <p:nvPr/>
        </p:nvSpPr>
        <p:spPr>
          <a:xfrm>
            <a:off x="4621136" y="1419733"/>
            <a:ext cx="572473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[Selecting Pickup and drop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361768"/>
          </a:xfrm>
          <a:custGeom>
            <a:avLst/>
            <a:gdLst/>
            <a:ahLst/>
            <a:cxnLst/>
            <a:rect l="l" t="t" r="r" b="b"/>
            <a:pathLst>
              <a:path w="13664535" h="7361768">
                <a:moveTo>
                  <a:pt x="0" y="0"/>
                </a:moveTo>
                <a:lnTo>
                  <a:pt x="13664535" y="0"/>
                </a:lnTo>
                <a:lnTo>
                  <a:pt x="13664535" y="7361768"/>
                </a:lnTo>
                <a:lnTo>
                  <a:pt x="0" y="7361768"/>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3419261" y="1495094"/>
            <a:ext cx="572473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[Calculate fair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22323" cy="7339026"/>
          </a:xfrm>
          <a:custGeom>
            <a:avLst/>
            <a:gdLst/>
            <a:ahLst/>
            <a:cxnLst/>
            <a:rect l="l" t="t" r="r" b="b"/>
            <a:pathLst>
              <a:path w="13622323" h="7339026">
                <a:moveTo>
                  <a:pt x="0" y="0"/>
                </a:moveTo>
                <a:lnTo>
                  <a:pt x="13622323" y="0"/>
                </a:lnTo>
                <a:lnTo>
                  <a:pt x="13622323" y="7339026"/>
                </a:lnTo>
                <a:lnTo>
                  <a:pt x="0" y="7339026"/>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4003957" y="1495094"/>
            <a:ext cx="572473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[Current trip created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413010"/>
          </a:xfrm>
          <a:custGeom>
            <a:avLst/>
            <a:gdLst/>
            <a:ahLst/>
            <a:cxnLst/>
            <a:rect l="l" t="t" r="r" b="b"/>
            <a:pathLst>
              <a:path w="13664535" h="7413010">
                <a:moveTo>
                  <a:pt x="0" y="0"/>
                </a:moveTo>
                <a:lnTo>
                  <a:pt x="13664535" y="0"/>
                </a:lnTo>
                <a:lnTo>
                  <a:pt x="13664535" y="7413010"/>
                </a:lnTo>
                <a:lnTo>
                  <a:pt x="0" y="7413010"/>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Driver Panel</a:t>
            </a:r>
          </a:p>
        </p:txBody>
      </p:sp>
      <p:sp>
        <p:nvSpPr>
          <p:cNvPr id="6" name="TextBox 6"/>
          <p:cNvSpPr txBox="1"/>
          <p:nvPr/>
        </p:nvSpPr>
        <p:spPr>
          <a:xfrm>
            <a:off x="3809058" y="1495094"/>
            <a:ext cx="572473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[Accept trip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0798" y="1919274"/>
            <a:ext cx="13672437" cy="7417297"/>
          </a:xfrm>
          <a:custGeom>
            <a:avLst/>
            <a:gdLst/>
            <a:ahLst/>
            <a:cxnLst/>
            <a:rect l="l" t="t" r="r" b="b"/>
            <a:pathLst>
              <a:path w="13672437" h="7417297">
                <a:moveTo>
                  <a:pt x="0" y="0"/>
                </a:moveTo>
                <a:lnTo>
                  <a:pt x="13672437" y="0"/>
                </a:lnTo>
                <a:lnTo>
                  <a:pt x="13672437" y="7417297"/>
                </a:lnTo>
                <a:lnTo>
                  <a:pt x="0" y="7417297"/>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Driver Panel</a:t>
            </a:r>
          </a:p>
        </p:txBody>
      </p:sp>
      <p:sp>
        <p:nvSpPr>
          <p:cNvPr id="6" name="TextBox 6"/>
          <p:cNvSpPr txBox="1"/>
          <p:nvPr/>
        </p:nvSpPr>
        <p:spPr>
          <a:xfrm>
            <a:off x="4783552" y="1495094"/>
            <a:ext cx="572473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[Reaching pickup point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55491" cy="7339827"/>
          </a:xfrm>
          <a:custGeom>
            <a:avLst/>
            <a:gdLst/>
            <a:ahLst/>
            <a:cxnLst/>
            <a:rect l="l" t="t" r="r" b="b"/>
            <a:pathLst>
              <a:path w="13655491" h="7339827">
                <a:moveTo>
                  <a:pt x="0" y="0"/>
                </a:moveTo>
                <a:lnTo>
                  <a:pt x="13655491" y="0"/>
                </a:lnTo>
                <a:lnTo>
                  <a:pt x="13655491" y="7339826"/>
                </a:lnTo>
                <a:lnTo>
                  <a:pt x="0" y="7339826"/>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Driver Panel</a:t>
            </a:r>
          </a:p>
        </p:txBody>
      </p:sp>
      <p:sp>
        <p:nvSpPr>
          <p:cNvPr id="6" name="TextBox 6"/>
          <p:cNvSpPr txBox="1"/>
          <p:nvPr/>
        </p:nvSpPr>
        <p:spPr>
          <a:xfrm>
            <a:off x="5223892"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[Driver reached pickup point waiting for loading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855490" cy="7447326"/>
          </a:xfrm>
          <a:custGeom>
            <a:avLst/>
            <a:gdLst/>
            <a:ahLst/>
            <a:cxnLst/>
            <a:rect l="l" t="t" r="r" b="b"/>
            <a:pathLst>
              <a:path w="13855490" h="7447326">
                <a:moveTo>
                  <a:pt x="0" y="0"/>
                </a:moveTo>
                <a:lnTo>
                  <a:pt x="13855490" y="0"/>
                </a:lnTo>
                <a:lnTo>
                  <a:pt x="13855490" y="7447326"/>
                </a:lnTo>
                <a:lnTo>
                  <a:pt x="0" y="7447326"/>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3339328"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 After loading user marks loaded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310526"/>
          </a:xfrm>
          <a:custGeom>
            <a:avLst/>
            <a:gdLst/>
            <a:ahLst/>
            <a:cxnLst/>
            <a:rect l="l" t="t" r="r" b="b"/>
            <a:pathLst>
              <a:path w="13664535" h="7310526">
                <a:moveTo>
                  <a:pt x="0" y="0"/>
                </a:moveTo>
                <a:lnTo>
                  <a:pt x="13664535" y="0"/>
                </a:lnTo>
                <a:lnTo>
                  <a:pt x="13664535" y="7310526"/>
                </a:lnTo>
                <a:lnTo>
                  <a:pt x="0" y="7310526"/>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3924025"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 Trip started and user can track live status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327607"/>
          </a:xfrm>
          <a:custGeom>
            <a:avLst/>
            <a:gdLst/>
            <a:ahLst/>
            <a:cxnLst/>
            <a:rect l="l" t="t" r="r" b="b"/>
            <a:pathLst>
              <a:path w="13664535" h="7327607">
                <a:moveTo>
                  <a:pt x="0" y="0"/>
                </a:moveTo>
                <a:lnTo>
                  <a:pt x="13664535" y="0"/>
                </a:lnTo>
                <a:lnTo>
                  <a:pt x="13664535" y="7327607"/>
                </a:lnTo>
                <a:lnTo>
                  <a:pt x="0" y="7327607"/>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2754632"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 Trip progress on user panel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361768"/>
          </a:xfrm>
          <a:custGeom>
            <a:avLst/>
            <a:gdLst/>
            <a:ahLst/>
            <a:cxnLst/>
            <a:rect l="l" t="t" r="r" b="b"/>
            <a:pathLst>
              <a:path w="13664535" h="7361768">
                <a:moveTo>
                  <a:pt x="0" y="0"/>
                </a:moveTo>
                <a:lnTo>
                  <a:pt x="13664535" y="0"/>
                </a:lnTo>
                <a:lnTo>
                  <a:pt x="13664535" y="7361768"/>
                </a:lnTo>
                <a:lnTo>
                  <a:pt x="0" y="7361768"/>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Driver Panel</a:t>
            </a:r>
          </a:p>
        </p:txBody>
      </p:sp>
      <p:sp>
        <p:nvSpPr>
          <p:cNvPr id="6" name="TextBox 6"/>
          <p:cNvSpPr txBox="1"/>
          <p:nvPr/>
        </p:nvSpPr>
        <p:spPr>
          <a:xfrm>
            <a:off x="3599193"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 Trip progress on driver panel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28700" y="1919274"/>
            <a:ext cx="13664535" cy="7339827"/>
          </a:xfrm>
          <a:custGeom>
            <a:avLst/>
            <a:gdLst/>
            <a:ahLst/>
            <a:cxnLst/>
            <a:rect l="l" t="t" r="r" b="b"/>
            <a:pathLst>
              <a:path w="13664535" h="7339827">
                <a:moveTo>
                  <a:pt x="0" y="0"/>
                </a:moveTo>
                <a:lnTo>
                  <a:pt x="13664535" y="0"/>
                </a:lnTo>
                <a:lnTo>
                  <a:pt x="13664535" y="7339826"/>
                </a:lnTo>
                <a:lnTo>
                  <a:pt x="0" y="7339826"/>
                </a:lnTo>
                <a:lnTo>
                  <a:pt x="0" y="0"/>
                </a:lnTo>
                <a:close/>
              </a:path>
            </a:pathLst>
          </a:custGeom>
          <a:blipFill>
            <a:blip r:embed="rId2"/>
            <a:stretch>
              <a:fillRect t="-10449" b="-5906"/>
            </a:stretch>
          </a:blipFill>
        </p:spPr>
      </p:sp>
      <p:sp>
        <p:nvSpPr>
          <p:cNvPr id="3" name="Freeform 3"/>
          <p:cNvSpPr/>
          <p:nvPr/>
        </p:nvSpPr>
        <p:spPr>
          <a:xfrm>
            <a:off x="1028700" y="1919274"/>
            <a:ext cx="13664535" cy="7361768"/>
          </a:xfrm>
          <a:custGeom>
            <a:avLst/>
            <a:gdLst/>
            <a:ahLst/>
            <a:cxnLst/>
            <a:rect l="l" t="t" r="r" b="b"/>
            <a:pathLst>
              <a:path w="13664535" h="7361768">
                <a:moveTo>
                  <a:pt x="0" y="0"/>
                </a:moveTo>
                <a:lnTo>
                  <a:pt x="13664535" y="0"/>
                </a:lnTo>
                <a:lnTo>
                  <a:pt x="13664535" y="7361768"/>
                </a:lnTo>
                <a:lnTo>
                  <a:pt x="0" y="7361768"/>
                </a:lnTo>
                <a:lnTo>
                  <a:pt x="0" y="0"/>
                </a:lnTo>
                <a:close/>
              </a:path>
            </a:pathLst>
          </a:custGeom>
          <a:blipFill>
            <a:blip r:embed="rId3"/>
            <a:stretch>
              <a:fillRect/>
            </a:stretch>
          </a:blipFill>
        </p:spPr>
      </p:sp>
      <p:sp>
        <p:nvSpPr>
          <p:cNvPr id="4" name="TextBox 4"/>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5" name="TextBox 5"/>
          <p:cNvSpPr txBox="1"/>
          <p:nvPr/>
        </p:nvSpPr>
        <p:spPr>
          <a:xfrm>
            <a:off x="1028700" y="1257300"/>
            <a:ext cx="4621257"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User Panel</a:t>
            </a:r>
          </a:p>
        </p:txBody>
      </p:sp>
      <p:sp>
        <p:nvSpPr>
          <p:cNvPr id="6" name="TextBox 6"/>
          <p:cNvSpPr txBox="1"/>
          <p:nvPr/>
        </p:nvSpPr>
        <p:spPr>
          <a:xfrm>
            <a:off x="3130818" y="1495094"/>
            <a:ext cx="9460299" cy="424180"/>
          </a:xfrm>
          <a:prstGeom prst="rect">
            <a:avLst/>
          </a:prstGeom>
        </p:spPr>
        <p:txBody>
          <a:bodyPr lIns="0" tIns="0" rIns="0" bIns="0" rtlCol="0" anchor="t">
            <a:spAutoFit/>
          </a:bodyPr>
          <a:lstStyle/>
          <a:p>
            <a:pPr algn="ctr">
              <a:lnSpc>
                <a:spcPts val="3200"/>
              </a:lnSpc>
            </a:pPr>
            <a:r>
              <a:rPr lang="en-US" sz="3200" b="1" spc="-140">
                <a:solidFill>
                  <a:srgbClr val="E4E2DD"/>
                </a:solidFill>
                <a:latin typeface="Aileron Bold"/>
                <a:ea typeface="Aileron Bold"/>
                <a:cs typeface="Aileron Bold"/>
                <a:sym typeface="Aileron Bold"/>
              </a:rPr>
              <a:t>[ Trip completed successfully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028700" y="1376363"/>
            <a:ext cx="6797626" cy="1490218"/>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Task Accomplished</a:t>
            </a:r>
          </a:p>
        </p:txBody>
      </p:sp>
      <p:sp>
        <p:nvSpPr>
          <p:cNvPr id="4" name="TextBox 4"/>
          <p:cNvSpPr txBox="1"/>
          <p:nvPr/>
        </p:nvSpPr>
        <p:spPr>
          <a:xfrm>
            <a:off x="1028700" y="3057525"/>
            <a:ext cx="11303585" cy="4339842"/>
          </a:xfrm>
          <a:prstGeom prst="rect">
            <a:avLst/>
          </a:prstGeom>
        </p:spPr>
        <p:txBody>
          <a:bodyPr lIns="0" tIns="0" rIns="0" bIns="0" rtlCol="0" anchor="t">
            <a:spAutoFit/>
          </a:bodyPr>
          <a:lstStyle/>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Successful booking and allocation of trucks</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Real-time movement simulation</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Live tracking on map</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Continuous status updates</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Smooth driver–user interaction</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Trip progress updated every 0.8 seconds</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Minimal backend processing delay</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Lightweight JSON-based storage</a:t>
            </a:r>
          </a:p>
          <a:p>
            <a:pPr marL="604519" lvl="1" indent="-302260" algn="just">
              <a:lnSpc>
                <a:spcPts val="3359"/>
              </a:lnSpc>
              <a:buFont typeface="Arial"/>
              <a:buChar char="•"/>
            </a:pPr>
            <a:r>
              <a:rPr lang="en-US" sz="2799" spc="-55" dirty="0">
                <a:solidFill>
                  <a:srgbClr val="E4E2DD"/>
                </a:solidFill>
                <a:latin typeface="Montserrat"/>
                <a:ea typeface="Montserrat"/>
                <a:cs typeface="Montserrat"/>
                <a:sym typeface="Montserrat"/>
              </a:rPr>
              <a:t>Visualization on interactive map</a:t>
            </a:r>
          </a:p>
          <a:p>
            <a:pPr algn="just">
              <a:lnSpc>
                <a:spcPts val="3359"/>
              </a:lnSpc>
            </a:pPr>
            <a:endParaRPr lang="en-US" sz="2799" spc="-55" dirty="0">
              <a:solidFill>
                <a:srgbClr val="E4E2DD"/>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5646158" y="1028700"/>
            <a:ext cx="1613142" cy="314325"/>
          </a:xfrm>
          <a:prstGeom prst="rect">
            <a:avLst/>
          </a:prstGeom>
        </p:spPr>
        <p:txBody>
          <a:bodyPr lIns="0" tIns="0" rIns="0" bIns="0" rtlCol="0" anchor="t">
            <a:spAutoFit/>
          </a:bodyPr>
          <a:lstStyle/>
          <a:p>
            <a:pPr algn="r">
              <a:lnSpc>
                <a:spcPts val="2520"/>
              </a:lnSpc>
            </a:pPr>
            <a:r>
              <a:rPr lang="en-US" sz="2100" b="1" spc="-42">
                <a:solidFill>
                  <a:srgbClr val="E4E2DD"/>
                </a:solidFill>
                <a:latin typeface="Montserrat Bold"/>
                <a:ea typeface="Montserrat Bold"/>
                <a:cs typeface="Montserrat Bold"/>
                <a:sym typeface="Montserrat Bold"/>
              </a:rPr>
              <a:t>2025</a:t>
            </a:r>
          </a:p>
        </p:txBody>
      </p:sp>
      <p:sp>
        <p:nvSpPr>
          <p:cNvPr id="3" name="TextBox 3"/>
          <p:cNvSpPr txBox="1"/>
          <p:nvPr/>
        </p:nvSpPr>
        <p:spPr>
          <a:xfrm>
            <a:off x="1582273" y="1533525"/>
            <a:ext cx="6797626" cy="775843"/>
          </a:xfrm>
          <a:prstGeom prst="rect">
            <a:avLst/>
          </a:prstGeom>
        </p:spPr>
        <p:txBody>
          <a:bodyPr lIns="0" tIns="0" rIns="0" bIns="0" rtlCol="0" anchor="t">
            <a:spAutoFit/>
          </a:bodyPr>
          <a:lstStyle/>
          <a:p>
            <a:pPr algn="l">
              <a:lnSpc>
                <a:spcPts val="5695"/>
              </a:lnSpc>
            </a:pPr>
            <a:r>
              <a:rPr lang="en-US" sz="6399" b="1" spc="-281">
                <a:solidFill>
                  <a:srgbClr val="E4E2DD"/>
                </a:solidFill>
                <a:latin typeface="Aileron Bold"/>
                <a:ea typeface="Aileron Bold"/>
                <a:cs typeface="Aileron Bold"/>
                <a:sym typeface="Aileron Bold"/>
              </a:rPr>
              <a:t>Conclusion</a:t>
            </a:r>
          </a:p>
        </p:txBody>
      </p:sp>
      <p:sp>
        <p:nvSpPr>
          <p:cNvPr id="4" name="TextBox 4"/>
          <p:cNvSpPr txBox="1"/>
          <p:nvPr/>
        </p:nvSpPr>
        <p:spPr>
          <a:xfrm>
            <a:off x="1028700" y="2682095"/>
            <a:ext cx="14702398" cy="3762375"/>
          </a:xfrm>
          <a:prstGeom prst="rect">
            <a:avLst/>
          </a:prstGeom>
        </p:spPr>
        <p:txBody>
          <a:bodyPr lIns="0" tIns="0" rIns="0" bIns="0" rtlCol="0" anchor="t">
            <a:spAutoFit/>
          </a:bodyPr>
          <a:lstStyle/>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Built a working prototype of Uber-like truck hiring system</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Demonstrated GIS-based vehicle tracking &amp; routing simulation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Achieved end-to-end flow from booking → tracking → trip completion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System can be extended to real-world:</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 ✔ Real routing APIs</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 ✔ Database integration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 ✔ Pricing optimization</a:t>
            </a:r>
          </a:p>
          <a:p>
            <a:pPr marL="604519" lvl="1" indent="-302260" algn="just">
              <a:lnSpc>
                <a:spcPts val="3359"/>
              </a:lnSpc>
              <a:buFont typeface="Arial"/>
              <a:buChar char="•"/>
            </a:pPr>
            <a:r>
              <a:rPr lang="en-US" sz="2799" spc="-55">
                <a:solidFill>
                  <a:srgbClr val="E4E2DD"/>
                </a:solidFill>
                <a:latin typeface="Montserrat"/>
                <a:ea typeface="Montserrat"/>
                <a:cs typeface="Montserrat"/>
                <a:sym typeface="Montserrat"/>
              </a:rPr>
              <a:t>Provides foundation for smart logistics &amp; transport automation</a:t>
            </a:r>
          </a:p>
          <a:p>
            <a:pPr algn="just">
              <a:lnSpc>
                <a:spcPts val="3359"/>
              </a:lnSpc>
            </a:pPr>
            <a:endParaRPr lang="en-US" sz="2799" spc="-55">
              <a:solidFill>
                <a:srgbClr val="E4E2DD"/>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3940928"/>
            <a:ext cx="14617458" cy="2116455"/>
          </a:xfrm>
          <a:prstGeom prst="rect">
            <a:avLst/>
          </a:prstGeom>
        </p:spPr>
        <p:txBody>
          <a:bodyPr lIns="0" tIns="0" rIns="0" bIns="0" rtlCol="0" anchor="t">
            <a:spAutoFit/>
          </a:bodyPr>
          <a:lstStyle/>
          <a:p>
            <a:pPr algn="l">
              <a:lnSpc>
                <a:spcPts val="8009"/>
              </a:lnSpc>
            </a:pPr>
            <a:r>
              <a:rPr lang="en-US" sz="9000" b="1" spc="-396">
                <a:solidFill>
                  <a:srgbClr val="E4E2DD"/>
                </a:solidFill>
                <a:latin typeface="Aileron Bold"/>
                <a:ea typeface="Aileron Bold"/>
                <a:cs typeface="Aileron Bold"/>
                <a:sym typeface="Aileron Bold"/>
              </a:rPr>
              <a:t>Thank</a:t>
            </a:r>
          </a:p>
          <a:p>
            <a:pPr algn="l">
              <a:lnSpc>
                <a:spcPts val="8009"/>
              </a:lnSpc>
            </a:pPr>
            <a:r>
              <a:rPr lang="en-US" sz="9000" b="1" spc="-396">
                <a:solidFill>
                  <a:srgbClr val="E4E2DD"/>
                </a:solidFill>
                <a:latin typeface="Aileron Bold"/>
                <a:ea typeface="Aileron Bold"/>
                <a:cs typeface="Aileron Bold"/>
                <a:sym typeface="Aileron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624</Words>
  <Application>Microsoft Office PowerPoint</Application>
  <PresentationFormat>Custom</PresentationFormat>
  <Paragraphs>153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Montserrat</vt:lpstr>
      <vt:lpstr>Calibri</vt:lpstr>
      <vt:lpstr>Montserrat Bold</vt:lpstr>
      <vt:lpstr>Arial</vt:lpstr>
      <vt:lpstr>Aileron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PROJECT</dc:title>
  <cp:lastModifiedBy>Yaksh Bhesaniya</cp:lastModifiedBy>
  <cp:revision>6</cp:revision>
  <dcterms:created xsi:type="dcterms:W3CDTF">2006-08-16T00:00:00Z</dcterms:created>
  <dcterms:modified xsi:type="dcterms:W3CDTF">2025-11-24T13:18:54Z</dcterms:modified>
  <dc:identifier>DAG4yhWNgcY</dc:identifier>
</cp:coreProperties>
</file>